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Poppins Bold" charset="1" panose="00000800000000000000"/>
      <p:regular r:id="rId20"/>
    </p:embeddedFont>
    <p:embeddedFont>
      <p:font typeface="Poppins" charset="1" panose="00000500000000000000"/>
      <p:regular r:id="rId21"/>
    </p:embeddedFont>
    <p:embeddedFont>
      <p:font typeface="Garet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https://github.com/Mohamed-Kadry-Hussien/Sales_Forecasting_and_Demand_Prediction/" TargetMode="External" Type="http://schemas.openxmlformats.org/officeDocument/2006/relationships/hyperlink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linkedin.com/in/mohamed-kadry-bba826254/" TargetMode="External" Type="http://schemas.openxmlformats.org/officeDocument/2006/relationships/hyperlink"/><Relationship Id="rId11" Target="https://www.linkedin.com/in/mohamed-kadry-bba826254/" TargetMode="External" Type="http://schemas.openxmlformats.org/officeDocument/2006/relationships/hyperlink"/><Relationship Id="rId12" Target="https://www.linkedin.com/in/mohamed-kadry-bba826254/" TargetMode="External" Type="http://schemas.openxmlformats.org/officeDocument/2006/relationships/hyperlink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97502" y="5590237"/>
            <a:ext cx="14099416" cy="140994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91331" y="2806317"/>
            <a:ext cx="14434478" cy="402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 b="true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Sales Forecasting</a:t>
            </a:r>
          </a:p>
          <a:p>
            <a:pPr algn="l">
              <a:lnSpc>
                <a:spcPts val="10500"/>
              </a:lnSpc>
            </a:pPr>
            <a:r>
              <a:rPr lang="en-US" sz="7500" b="true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&amp;Demand </a:t>
            </a:r>
          </a:p>
          <a:p>
            <a:pPr algn="l">
              <a:lnSpc>
                <a:spcPts val="10500"/>
              </a:lnSpc>
              <a:spcBef>
                <a:spcPct val="0"/>
              </a:spcBef>
            </a:pPr>
            <a:r>
              <a:rPr lang="en-US" b="true" sz="7500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Prediction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420234" y="-1717598"/>
            <a:ext cx="3735531" cy="373553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47857" y="-643475"/>
            <a:ext cx="1286950" cy="128695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1929195" y="8389571"/>
            <a:ext cx="3735531" cy="373553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8757394" y="7522582"/>
            <a:ext cx="8779632" cy="1733977"/>
          </a:xfrm>
          <a:custGeom>
            <a:avLst/>
            <a:gdLst/>
            <a:ahLst/>
            <a:cxnLst/>
            <a:rect r="r" b="b" t="t" l="l"/>
            <a:pathLst>
              <a:path h="1733977" w="8779632">
                <a:moveTo>
                  <a:pt x="0" y="0"/>
                </a:moveTo>
                <a:lnTo>
                  <a:pt x="8779632" y="0"/>
                </a:lnTo>
                <a:lnTo>
                  <a:pt x="8779632" y="1733977"/>
                </a:lnTo>
                <a:lnTo>
                  <a:pt x="0" y="1733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9561421" y="3143201"/>
            <a:ext cx="9525283" cy="5463587"/>
            <a:chOff x="0" y="0"/>
            <a:chExt cx="7981950" cy="45783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242424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3"/>
              <a:stretch>
                <a:fillRect l="-6381" t="0" r="-6381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806336" y="263847"/>
            <a:ext cx="1650021" cy="1529707"/>
          </a:xfrm>
          <a:custGeom>
            <a:avLst/>
            <a:gdLst/>
            <a:ahLst/>
            <a:cxnLst/>
            <a:rect r="r" b="b" t="t" l="l"/>
            <a:pathLst>
              <a:path h="1529707" w="1650021">
                <a:moveTo>
                  <a:pt x="0" y="0"/>
                </a:moveTo>
                <a:lnTo>
                  <a:pt x="1650021" y="0"/>
                </a:lnTo>
                <a:lnTo>
                  <a:pt x="1650021" y="1529706"/>
                </a:lnTo>
                <a:lnTo>
                  <a:pt x="0" y="15297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324062" y="765473"/>
            <a:ext cx="2024823" cy="526454"/>
          </a:xfrm>
          <a:custGeom>
            <a:avLst/>
            <a:gdLst/>
            <a:ahLst/>
            <a:cxnLst/>
            <a:rect r="r" b="b" t="t" l="l"/>
            <a:pathLst>
              <a:path h="526454" w="2024823">
                <a:moveTo>
                  <a:pt x="0" y="0"/>
                </a:moveTo>
                <a:lnTo>
                  <a:pt x="2024822" y="0"/>
                </a:lnTo>
                <a:lnTo>
                  <a:pt x="2024822" y="526454"/>
                </a:lnTo>
                <a:lnTo>
                  <a:pt x="0" y="5264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391331" y="6967302"/>
            <a:ext cx="319667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DEPI Final Progect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91331" y="7436857"/>
            <a:ext cx="88627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67766" y="-1792431"/>
            <a:ext cx="3735531" cy="373553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451894" y="3800091"/>
            <a:ext cx="462291" cy="410178"/>
          </a:xfrm>
          <a:custGeom>
            <a:avLst/>
            <a:gdLst/>
            <a:ahLst/>
            <a:cxnLst/>
            <a:rect r="r" b="b" t="t" l="l"/>
            <a:pathLst>
              <a:path h="410178" w="462291">
                <a:moveTo>
                  <a:pt x="0" y="0"/>
                </a:moveTo>
                <a:lnTo>
                  <a:pt x="462291" y="0"/>
                </a:lnTo>
                <a:lnTo>
                  <a:pt x="462291" y="410178"/>
                </a:lnTo>
                <a:lnTo>
                  <a:pt x="0" y="410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451894" y="5169556"/>
            <a:ext cx="462291" cy="410178"/>
          </a:xfrm>
          <a:custGeom>
            <a:avLst/>
            <a:gdLst/>
            <a:ahLst/>
            <a:cxnLst/>
            <a:rect r="r" b="b" t="t" l="l"/>
            <a:pathLst>
              <a:path h="410178" w="462291">
                <a:moveTo>
                  <a:pt x="0" y="0"/>
                </a:moveTo>
                <a:lnTo>
                  <a:pt x="462291" y="0"/>
                </a:lnTo>
                <a:lnTo>
                  <a:pt x="462291" y="410178"/>
                </a:lnTo>
                <a:lnTo>
                  <a:pt x="0" y="410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451894" y="6536722"/>
            <a:ext cx="462291" cy="410178"/>
          </a:xfrm>
          <a:custGeom>
            <a:avLst/>
            <a:gdLst/>
            <a:ahLst/>
            <a:cxnLst/>
            <a:rect r="r" b="b" t="t" l="l"/>
            <a:pathLst>
              <a:path h="410178" w="462291">
                <a:moveTo>
                  <a:pt x="0" y="0"/>
                </a:moveTo>
                <a:lnTo>
                  <a:pt x="462291" y="0"/>
                </a:lnTo>
                <a:lnTo>
                  <a:pt x="462291" y="410178"/>
                </a:lnTo>
                <a:lnTo>
                  <a:pt x="0" y="410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451894" y="7794967"/>
            <a:ext cx="462291" cy="410178"/>
          </a:xfrm>
          <a:custGeom>
            <a:avLst/>
            <a:gdLst/>
            <a:ahLst/>
            <a:cxnLst/>
            <a:rect r="r" b="b" t="t" l="l"/>
            <a:pathLst>
              <a:path h="410178" w="462291">
                <a:moveTo>
                  <a:pt x="0" y="0"/>
                </a:moveTo>
                <a:lnTo>
                  <a:pt x="462291" y="0"/>
                </a:lnTo>
                <a:lnTo>
                  <a:pt x="462291" y="410178"/>
                </a:lnTo>
                <a:lnTo>
                  <a:pt x="0" y="410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451894" y="9053211"/>
            <a:ext cx="462291" cy="410178"/>
          </a:xfrm>
          <a:custGeom>
            <a:avLst/>
            <a:gdLst/>
            <a:ahLst/>
            <a:cxnLst/>
            <a:rect r="r" b="b" t="t" l="l"/>
            <a:pathLst>
              <a:path h="410178" w="462291">
                <a:moveTo>
                  <a:pt x="0" y="0"/>
                </a:moveTo>
                <a:lnTo>
                  <a:pt x="462291" y="0"/>
                </a:lnTo>
                <a:lnTo>
                  <a:pt x="462291" y="410178"/>
                </a:lnTo>
                <a:lnTo>
                  <a:pt x="0" y="410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208304" y="2488713"/>
          <a:ext cx="16050996" cy="7519145"/>
        </p:xfrm>
        <a:graphic>
          <a:graphicData uri="http://schemas.openxmlformats.org/drawingml/2006/table">
            <a:tbl>
              <a:tblPr/>
              <a:tblGrid>
                <a:gridCol w="911762"/>
                <a:gridCol w="5806323"/>
                <a:gridCol w="4110548"/>
                <a:gridCol w="5222364"/>
              </a:tblGrid>
              <a:tr h="8819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78"/>
                        </a:lnSpc>
                        <a:defRPr/>
                      </a:pPr>
                      <a:r>
                        <a:rPr lang="en-US" sz="2341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No.</a:t>
                      </a:r>
                      <a:endParaRPr lang="en-US" sz="1100"/>
                    </a:p>
                  </a:txBody>
                  <a:tcPr marL="112036" marR="112036" marT="112036" marB="112036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9FD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78"/>
                        </a:lnSpc>
                        <a:defRPr/>
                      </a:pPr>
                      <a:r>
                        <a:rPr lang="en-US" sz="2341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Name</a:t>
                      </a:r>
                      <a:endParaRPr lang="en-US" sz="1100"/>
                    </a:p>
                  </a:txBody>
                  <a:tcPr marL="112036" marR="112036" marT="112036" marB="112036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9FD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4"/>
                        </a:lnSpc>
                        <a:defRPr/>
                      </a:pPr>
                      <a:r>
                        <a:rPr lang="en-US" sz="2432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ID</a:t>
                      </a:r>
                      <a:endParaRPr lang="en-US" sz="1100"/>
                    </a:p>
                  </a:txBody>
                  <a:tcPr marL="112036" marR="112036" marT="112036" marB="112036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9FD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78"/>
                        </a:lnSpc>
                        <a:defRPr/>
                      </a:pPr>
                      <a:r>
                        <a:rPr lang="en-US" sz="2341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Task</a:t>
                      </a:r>
                      <a:endParaRPr lang="en-US" sz="1100"/>
                    </a:p>
                  </a:txBody>
                  <a:tcPr marL="112036" marR="112036" marT="112036" marB="112036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9FD6"/>
                    </a:solidFill>
                  </a:tcPr>
                </a:tc>
              </a:tr>
              <a:tr h="13365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24"/>
                        </a:lnSpc>
                        <a:defRPr/>
                      </a:pPr>
                      <a:r>
                        <a:rPr lang="en-US" sz="216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lang="en-US" sz="1100"/>
                    </a:p>
                  </a:txBody>
                  <a:tcPr marL="112036" marR="112036" marT="112036" marB="112036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BF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78"/>
                        </a:lnSpc>
                        <a:defRPr/>
                      </a:pPr>
                      <a:r>
                        <a:rPr lang="en-US" sz="234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Mohammed Kadry Hussein</a:t>
                      </a:r>
                      <a:endParaRPr lang="en-US" sz="1100"/>
                    </a:p>
                  </a:txBody>
                  <a:tcPr marL="112036" marR="112036" marT="112036" marB="112036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BF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4"/>
                        </a:lnSpc>
                        <a:defRPr/>
                      </a:pPr>
                      <a:r>
                        <a:rPr lang="en-US" sz="2432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21101773</a:t>
                      </a:r>
                      <a:endParaRPr lang="en-US" sz="1100"/>
                    </a:p>
                  </a:txBody>
                  <a:tcPr marL="112036" marR="112036" marT="112036" marB="112036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2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4"/>
                        </a:lnSpc>
                        <a:defRPr/>
                      </a:pPr>
                      <a:r>
                        <a:rPr lang="en-US" sz="2432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Part 1_Milestone 1</a:t>
                      </a:r>
                      <a:endParaRPr lang="en-US" sz="1100"/>
                    </a:p>
                    <a:p>
                      <a:pPr algn="ctr">
                        <a:lnSpc>
                          <a:spcPts val="3404"/>
                        </a:lnSpc>
                      </a:pPr>
                      <a:r>
                        <a:rPr lang="en-US" sz="2432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Part 1_Miestone 3</a:t>
                      </a:r>
                    </a:p>
                  </a:txBody>
                  <a:tcPr marL="112036" marR="112036" marT="112036" marB="112036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2FD"/>
                    </a:solidFill>
                  </a:tcPr>
                </a:tc>
              </a:tr>
              <a:tr h="129107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93"/>
                        </a:lnSpc>
                        <a:defRPr/>
                      </a:pPr>
                      <a:r>
                        <a:rPr lang="en-US" sz="2352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endParaRPr lang="en-US" sz="1100"/>
                    </a:p>
                  </a:txBody>
                  <a:tcPr marL="112036" marR="112036" marT="112036" marB="112036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BF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93"/>
                        </a:lnSpc>
                        <a:defRPr/>
                      </a:pPr>
                      <a:r>
                        <a:rPr lang="en-US" sz="2352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Mahmoud Hamdy Ali</a:t>
                      </a:r>
                      <a:endParaRPr lang="en-US" sz="1100"/>
                    </a:p>
                  </a:txBody>
                  <a:tcPr marL="112036" marR="112036" marT="112036" marB="112036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BF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4"/>
                        </a:lnSpc>
                        <a:defRPr/>
                      </a:pPr>
                      <a:r>
                        <a:rPr lang="en-US" sz="2432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21068016</a:t>
                      </a:r>
                      <a:endParaRPr lang="en-US" sz="1100"/>
                    </a:p>
                  </a:txBody>
                  <a:tcPr marL="112036" marR="112036" marT="112036" marB="112036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2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78"/>
                        </a:lnSpc>
                        <a:defRPr/>
                      </a:pPr>
                      <a:r>
                        <a:rPr lang="en-US" sz="234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Part 2_Milestone 1</a:t>
                      </a:r>
                      <a:endParaRPr lang="en-US" sz="1100"/>
                    </a:p>
                    <a:p>
                      <a:pPr algn="ctr">
                        <a:lnSpc>
                          <a:spcPts val="3278"/>
                        </a:lnSpc>
                      </a:pPr>
                      <a:r>
                        <a:rPr lang="en-US" sz="234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Part 2_Miestone 3</a:t>
                      </a:r>
                    </a:p>
                  </a:txBody>
                  <a:tcPr marL="112036" marR="112036" marT="112036" marB="112036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2FD"/>
                    </a:solidFill>
                  </a:tcPr>
                </a:tc>
              </a:tr>
              <a:tr h="13365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51"/>
                        </a:lnSpc>
                        <a:defRPr/>
                      </a:pPr>
                      <a:r>
                        <a:rPr lang="en-US" sz="225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 lang="en-US" sz="1100"/>
                    </a:p>
                  </a:txBody>
                  <a:tcPr marL="112036" marR="112036" marT="112036" marB="112036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BF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78"/>
                        </a:lnSpc>
                        <a:defRPr/>
                      </a:pPr>
                      <a:r>
                        <a:rPr lang="en-US" sz="234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Sahar Gamal Soliman</a:t>
                      </a:r>
                      <a:endParaRPr lang="en-US" sz="1100"/>
                    </a:p>
                  </a:txBody>
                  <a:tcPr marL="112036" marR="112036" marT="112036" marB="112036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BF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4"/>
                        </a:lnSpc>
                        <a:defRPr/>
                      </a:pPr>
                      <a:r>
                        <a:rPr lang="en-US" sz="2432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21104497</a:t>
                      </a:r>
                      <a:endParaRPr lang="en-US" sz="1100"/>
                    </a:p>
                  </a:txBody>
                  <a:tcPr marL="112036" marR="112036" marT="112036" marB="112036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2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4"/>
                        </a:lnSpc>
                        <a:defRPr/>
                      </a:pPr>
                      <a:r>
                        <a:rPr lang="en-US" sz="2432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Part 1_Milestone 2</a:t>
                      </a:r>
                      <a:endParaRPr lang="en-US" sz="1100"/>
                    </a:p>
                    <a:p>
                      <a:pPr algn="ctr">
                        <a:lnSpc>
                          <a:spcPts val="3404"/>
                        </a:lnSpc>
                      </a:pPr>
                      <a:r>
                        <a:rPr lang="en-US" sz="2432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Part 1_Miestone 4</a:t>
                      </a:r>
                    </a:p>
                  </a:txBody>
                  <a:tcPr marL="112036" marR="112036" marT="112036" marB="112036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2FD"/>
                    </a:solidFill>
                  </a:tcPr>
                </a:tc>
              </a:tr>
              <a:tr h="13365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24"/>
                        </a:lnSpc>
                        <a:defRPr/>
                      </a:pPr>
                      <a:r>
                        <a:rPr lang="en-US" sz="216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lang="en-US" sz="1100"/>
                    </a:p>
                  </a:txBody>
                  <a:tcPr marL="112036" marR="112036" marT="112036" marB="112036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BF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78"/>
                        </a:lnSpc>
                        <a:defRPr/>
                      </a:pPr>
                      <a:r>
                        <a:rPr lang="en-US" sz="234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Fatma Salah Mohammed</a:t>
                      </a:r>
                      <a:endParaRPr lang="en-US" sz="1100"/>
                    </a:p>
                  </a:txBody>
                  <a:tcPr marL="112036" marR="112036" marT="112036" marB="112036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BF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4"/>
                        </a:lnSpc>
                        <a:defRPr/>
                      </a:pPr>
                      <a:r>
                        <a:rPr lang="en-US" sz="2432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21104482</a:t>
                      </a:r>
                      <a:endParaRPr lang="en-US" sz="1100"/>
                    </a:p>
                  </a:txBody>
                  <a:tcPr marL="112036" marR="112036" marT="112036" marB="112036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2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4"/>
                        </a:lnSpc>
                        <a:defRPr/>
                      </a:pPr>
                      <a:r>
                        <a:rPr lang="en-US" sz="2432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Part 3_Milestone 1</a:t>
                      </a:r>
                      <a:endParaRPr lang="en-US" sz="1100"/>
                    </a:p>
                    <a:p>
                      <a:pPr algn="ctr">
                        <a:lnSpc>
                          <a:spcPts val="3404"/>
                        </a:lnSpc>
                      </a:pPr>
                      <a:r>
                        <a:rPr lang="en-US" sz="2432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Miestone 5</a:t>
                      </a:r>
                    </a:p>
                  </a:txBody>
                  <a:tcPr marL="112036" marR="112036" marT="112036" marB="112036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2FD"/>
                    </a:solidFill>
                  </a:tcPr>
                </a:tc>
              </a:tr>
              <a:tr h="13365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24"/>
                        </a:lnSpc>
                        <a:defRPr/>
                      </a:pPr>
                      <a:r>
                        <a:rPr lang="en-US" sz="216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</a:t>
                      </a:r>
                      <a:endParaRPr lang="en-US" sz="1100"/>
                    </a:p>
                  </a:txBody>
                  <a:tcPr marL="112036" marR="112036" marT="112036" marB="112036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BF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78"/>
                        </a:lnSpc>
                        <a:defRPr/>
                      </a:pPr>
                      <a:r>
                        <a:rPr lang="en-US" sz="234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Tasneem Shehab Eldin Mahmoud</a:t>
                      </a:r>
                      <a:endParaRPr lang="en-US" sz="1100"/>
                    </a:p>
                  </a:txBody>
                  <a:tcPr marL="112036" marR="112036" marT="112036" marB="112036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BF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4"/>
                        </a:lnSpc>
                        <a:defRPr/>
                      </a:pPr>
                      <a:r>
                        <a:rPr lang="en-US" sz="2432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21070870</a:t>
                      </a:r>
                      <a:endParaRPr lang="en-US" sz="1100"/>
                    </a:p>
                  </a:txBody>
                  <a:tcPr marL="112036" marR="112036" marT="112036" marB="112036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2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4"/>
                        </a:lnSpc>
                        <a:defRPr/>
                      </a:pPr>
                      <a:r>
                        <a:rPr lang="en-US" sz="2432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Part 2_Milestone 2</a:t>
                      </a:r>
                      <a:endParaRPr lang="en-US" sz="1100"/>
                    </a:p>
                    <a:p>
                      <a:pPr algn="ctr">
                        <a:lnSpc>
                          <a:spcPts val="3404"/>
                        </a:lnSpc>
                      </a:pPr>
                      <a:r>
                        <a:rPr lang="en-US" sz="2432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Part 2_Miestone 4</a:t>
                      </a:r>
                    </a:p>
                  </a:txBody>
                  <a:tcPr marL="112036" marR="112036" marT="112036" marB="112036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2FD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17583150" y="6896767"/>
            <a:ext cx="3086100" cy="4260775"/>
            <a:chOff x="0" y="0"/>
            <a:chExt cx="812800" cy="11221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122179"/>
            </a:xfrm>
            <a:custGeom>
              <a:avLst/>
              <a:gdLst/>
              <a:ahLst/>
              <a:cxnLst/>
              <a:rect r="r" b="b" t="t" l="l"/>
              <a:pathLst>
                <a:path h="112217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122179"/>
                  </a:lnTo>
                  <a:lnTo>
                    <a:pt x="0" y="1122179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12800" cy="1179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67766" y="847725"/>
            <a:ext cx="633606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Team Members: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654138" y="-2445901"/>
            <a:ext cx="15178802" cy="1517880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005697" y="-1797460"/>
            <a:ext cx="13881919" cy="1388191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99813" y="4639649"/>
            <a:ext cx="6033363" cy="1175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13"/>
              </a:lnSpc>
              <a:spcBef>
                <a:spcPct val="0"/>
              </a:spcBef>
            </a:pPr>
            <a:r>
              <a:rPr lang="en-US" b="true" sz="6580">
                <a:solidFill>
                  <a:srgbClr val="F2F1EC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256601" y="1028700"/>
            <a:ext cx="373607" cy="37360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BDE2F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49829" y="3734231"/>
            <a:ext cx="373607" cy="37360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BDE2FD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084277" y="7045245"/>
            <a:ext cx="373607" cy="37360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BDE2FD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814727" y="705857"/>
            <a:ext cx="4623827" cy="1052941"/>
            <a:chOff x="0" y="0"/>
            <a:chExt cx="6165103" cy="140392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08265" y="0"/>
              <a:ext cx="1403921" cy="1403921"/>
            </a:xfrm>
            <a:custGeom>
              <a:avLst/>
              <a:gdLst/>
              <a:ahLst/>
              <a:cxnLst/>
              <a:rect r="r" b="b" t="t" l="l"/>
              <a:pathLst>
                <a:path h="1403921" w="1403921">
                  <a:moveTo>
                    <a:pt x="0" y="0"/>
                  </a:moveTo>
                  <a:lnTo>
                    <a:pt x="1403921" y="0"/>
                  </a:lnTo>
                  <a:lnTo>
                    <a:pt x="1403921" y="1403921"/>
                  </a:lnTo>
                  <a:lnTo>
                    <a:pt x="0" y="1403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 rot="0">
              <a:off x="0" y="243702"/>
              <a:ext cx="1512186" cy="811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90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214286" y="243702"/>
              <a:ext cx="4950817" cy="811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051D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Project Idea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510850" y="-1188693"/>
            <a:ext cx="1080715" cy="2956684"/>
            <a:chOff x="0" y="0"/>
            <a:chExt cx="284633" cy="77871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271080" y="1954795"/>
            <a:ext cx="6166877" cy="1052941"/>
            <a:chOff x="0" y="0"/>
            <a:chExt cx="8222503" cy="140392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08265" y="0"/>
              <a:ext cx="1403921" cy="1403921"/>
            </a:xfrm>
            <a:custGeom>
              <a:avLst/>
              <a:gdLst/>
              <a:ahLst/>
              <a:cxnLst/>
              <a:rect r="r" b="b" t="t" l="l"/>
              <a:pathLst>
                <a:path h="1403921" w="1403921">
                  <a:moveTo>
                    <a:pt x="0" y="0"/>
                  </a:moveTo>
                  <a:lnTo>
                    <a:pt x="1403921" y="0"/>
                  </a:lnTo>
                  <a:lnTo>
                    <a:pt x="1403921" y="1403921"/>
                  </a:lnTo>
                  <a:lnTo>
                    <a:pt x="0" y="1403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 rot="0">
              <a:off x="0" y="243702"/>
              <a:ext cx="1512186" cy="811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90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02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214286" y="243702"/>
              <a:ext cx="7008217" cy="811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051D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Project Wireframe 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711467" y="3387709"/>
            <a:ext cx="6433576" cy="1052941"/>
            <a:chOff x="0" y="0"/>
            <a:chExt cx="8578101" cy="140392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08265" y="0"/>
              <a:ext cx="1403921" cy="1403921"/>
            </a:xfrm>
            <a:custGeom>
              <a:avLst/>
              <a:gdLst/>
              <a:ahLst/>
              <a:cxnLst/>
              <a:rect r="r" b="b" t="t" l="l"/>
              <a:pathLst>
                <a:path h="1403921" w="1403921">
                  <a:moveTo>
                    <a:pt x="0" y="0"/>
                  </a:moveTo>
                  <a:lnTo>
                    <a:pt x="1403921" y="0"/>
                  </a:lnTo>
                  <a:lnTo>
                    <a:pt x="1403921" y="1403921"/>
                  </a:lnTo>
                  <a:lnTo>
                    <a:pt x="0" y="1403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 rot="0">
              <a:off x="0" y="243702"/>
              <a:ext cx="1512186" cy="811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90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214286" y="243702"/>
              <a:ext cx="7363815" cy="811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051D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End Users + Features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810900" y="4820624"/>
            <a:ext cx="5326908" cy="1052941"/>
            <a:chOff x="0" y="0"/>
            <a:chExt cx="7102544" cy="140392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08265" y="0"/>
              <a:ext cx="1403921" cy="1403921"/>
            </a:xfrm>
            <a:custGeom>
              <a:avLst/>
              <a:gdLst/>
              <a:ahLst/>
              <a:cxnLst/>
              <a:rect r="r" b="b" t="t" l="l"/>
              <a:pathLst>
                <a:path h="1403921" w="1403921">
                  <a:moveTo>
                    <a:pt x="0" y="0"/>
                  </a:moveTo>
                  <a:lnTo>
                    <a:pt x="1403921" y="0"/>
                  </a:lnTo>
                  <a:lnTo>
                    <a:pt x="1403921" y="1403921"/>
                  </a:lnTo>
                  <a:lnTo>
                    <a:pt x="0" y="1403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 rot="0">
              <a:off x="0" y="243702"/>
              <a:ext cx="1512186" cy="811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90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04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1214286" y="243702"/>
              <a:ext cx="5888258" cy="811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051D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 Structure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562763" y="6520697"/>
            <a:ext cx="7560108" cy="1796311"/>
            <a:chOff x="0" y="0"/>
            <a:chExt cx="10080144" cy="239508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08265" y="0"/>
              <a:ext cx="1403921" cy="1403921"/>
            </a:xfrm>
            <a:custGeom>
              <a:avLst/>
              <a:gdLst/>
              <a:ahLst/>
              <a:cxnLst/>
              <a:rect r="r" b="b" t="t" l="l"/>
              <a:pathLst>
                <a:path h="1403921" w="1403921">
                  <a:moveTo>
                    <a:pt x="0" y="0"/>
                  </a:moveTo>
                  <a:lnTo>
                    <a:pt x="1403921" y="0"/>
                  </a:lnTo>
                  <a:lnTo>
                    <a:pt x="1403921" y="1403921"/>
                  </a:lnTo>
                  <a:lnTo>
                    <a:pt x="0" y="1403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 rot="0">
              <a:off x="0" y="243702"/>
              <a:ext cx="1512186" cy="811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90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05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639186" y="-67661"/>
              <a:ext cx="8440958" cy="2462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true">
                  <a:solidFill>
                    <a:srgbClr val="051D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Programming Languages</a:t>
              </a:r>
            </a:p>
            <a:p>
              <a:pPr algn="l">
                <a:lnSpc>
                  <a:spcPts val="4900"/>
                </a:lnSpc>
              </a:pPr>
              <a:r>
                <a:rPr lang="en-US" sz="3500" b="true">
                  <a:solidFill>
                    <a:srgbClr val="051D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+ Frameworks</a:t>
              </a:r>
            </a:p>
            <a:p>
              <a:pPr algn="ctr">
                <a:lnSpc>
                  <a:spcPts val="49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191453" y="7925809"/>
            <a:ext cx="5222413" cy="1052941"/>
            <a:chOff x="0" y="0"/>
            <a:chExt cx="6963218" cy="140392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08265" y="0"/>
              <a:ext cx="1403921" cy="1403921"/>
            </a:xfrm>
            <a:custGeom>
              <a:avLst/>
              <a:gdLst/>
              <a:ahLst/>
              <a:cxnLst/>
              <a:rect r="r" b="b" t="t" l="l"/>
              <a:pathLst>
                <a:path h="1403921" w="1403921">
                  <a:moveTo>
                    <a:pt x="0" y="0"/>
                  </a:moveTo>
                  <a:lnTo>
                    <a:pt x="1403921" y="0"/>
                  </a:lnTo>
                  <a:lnTo>
                    <a:pt x="1403921" y="1403921"/>
                  </a:lnTo>
                  <a:lnTo>
                    <a:pt x="0" y="1403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 rot="0">
              <a:off x="0" y="243702"/>
              <a:ext cx="1512186" cy="811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90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06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1417860" y="243702"/>
              <a:ext cx="5545358" cy="811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051D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Deliverables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876222" y="2294462"/>
            <a:ext cx="373607" cy="373607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BDE2FD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337860" y="5203895"/>
            <a:ext cx="373607" cy="373607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BDE2FD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689418" y="8265476"/>
            <a:ext cx="373607" cy="373607"/>
            <a:chOff x="0" y="0"/>
            <a:chExt cx="812800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BDE2FD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7259300" y="616028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5"/>
                </a:lnTo>
                <a:lnTo>
                  <a:pt x="4518707" y="3939865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523980" y="6587165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348623" y="1357415"/>
            <a:ext cx="5208538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99"/>
              </a:lnSpc>
            </a:pPr>
            <a:r>
              <a:rPr lang="en-US" sz="5499" b="true">
                <a:solidFill>
                  <a:srgbClr val="2F3B69"/>
                </a:solidFill>
                <a:latin typeface="Poppins Bold"/>
                <a:ea typeface="Poppins Bold"/>
                <a:cs typeface="Poppins Bold"/>
                <a:sym typeface="Poppins Bold"/>
              </a:rPr>
              <a:t>1. Project Idea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74389" y="3494088"/>
            <a:ext cx="14684911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Businesses struggle to accurately predict 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future sales and demand, which leads to poor inventory planning, inefficient marketing decisions, and potential revenue loss.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02914" y="2644826"/>
            <a:ext cx="9075093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b="true" sz="3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Description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39069" y="5948990"/>
            <a:ext cx="14684911" cy="374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Develop a machine learning–based forecasting system that analyzes historical sales data and predicts 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future sales and demand.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The solution will include: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predictive model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Automated data preprocessing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Visualization dashboard to help decision-makers understand trends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Tools for monitoring and updating the model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02914" y="5208588"/>
            <a:ext cx="9075093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b="true" sz="3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Proposed Solution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7259300" y="616028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5"/>
                </a:lnTo>
                <a:lnTo>
                  <a:pt x="4518707" y="3939865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523980" y="6587165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348623" y="1357415"/>
            <a:ext cx="5208538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99"/>
              </a:lnSpc>
            </a:pPr>
            <a:r>
              <a:rPr lang="en-US" sz="5499" b="true">
                <a:solidFill>
                  <a:srgbClr val="2F3B69"/>
                </a:solidFill>
                <a:latin typeface="Poppins Bold"/>
                <a:ea typeface="Poppins Bold"/>
                <a:cs typeface="Poppins Bold"/>
                <a:sym typeface="Poppins Bold"/>
              </a:rPr>
              <a:t>1. Project Idea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74389" y="3494088"/>
            <a:ext cx="14684911" cy="374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 prediction accuracy using advanced machine learning models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User-friendly dashboard that simplifies data-driven decision-making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Scalability, allowing the system to work for any product category or business size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Automation, reducing manual analysis time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Actionable insights, enabling better planning for inventory, marketing, and operations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02914" y="2644826"/>
            <a:ext cx="9075093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b="true" sz="3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Unique Value Proposition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6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7259300" y="616028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5"/>
                </a:lnTo>
                <a:lnTo>
                  <a:pt x="4518707" y="3939865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523980" y="6587165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348623" y="1357415"/>
            <a:ext cx="7426226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99"/>
              </a:lnSpc>
            </a:pPr>
            <a:r>
              <a:rPr lang="en-US" sz="5499" b="true">
                <a:solidFill>
                  <a:srgbClr val="2F3B69"/>
                </a:solidFill>
                <a:latin typeface="Poppins Bold"/>
                <a:ea typeface="Poppins Bold"/>
                <a:cs typeface="Poppins Bold"/>
                <a:sym typeface="Poppins Bold"/>
              </a:rPr>
              <a:t>2. Project Wireframe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74389" y="3494088"/>
            <a:ext cx="14684911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Input Section: Product ID, Customer ID, Order details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Submit Button: Sends data for prediction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Output Section: Forecasted Sales &amp; Demand (numbers + charts)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Optional Alerts: Highlights significant changes in demand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02914" y="2644826"/>
            <a:ext cx="12761268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b="true" sz="3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Key Screen: User Data Input &amp; Prediction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20098" y="6791274"/>
            <a:ext cx="14684911" cy="267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User navigates to Data Input Screen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Enters required details about product/order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Clicks Submit to send data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System processes the input and runs the ML model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User receives predictions and visual insights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48623" y="5942013"/>
            <a:ext cx="12761268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b="true" sz="3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User Journey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7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7259300" y="616028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5"/>
                </a:lnTo>
                <a:lnTo>
                  <a:pt x="4518707" y="3939865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523980" y="6587165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909803" y="5856288"/>
            <a:ext cx="5323345" cy="2096067"/>
          </a:xfrm>
          <a:custGeom>
            <a:avLst/>
            <a:gdLst/>
            <a:ahLst/>
            <a:cxnLst/>
            <a:rect r="r" b="b" t="t" l="l"/>
            <a:pathLst>
              <a:path h="2096067" w="5323345">
                <a:moveTo>
                  <a:pt x="0" y="0"/>
                </a:moveTo>
                <a:lnTo>
                  <a:pt x="5323346" y="0"/>
                </a:lnTo>
                <a:lnTo>
                  <a:pt x="5323346" y="2096067"/>
                </a:lnTo>
                <a:lnTo>
                  <a:pt x="0" y="2096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357898" y="7952355"/>
            <a:ext cx="4875251" cy="2209353"/>
          </a:xfrm>
          <a:custGeom>
            <a:avLst/>
            <a:gdLst/>
            <a:ahLst/>
            <a:cxnLst/>
            <a:rect r="r" b="b" t="t" l="l"/>
            <a:pathLst>
              <a:path h="2209353" w="4875251">
                <a:moveTo>
                  <a:pt x="0" y="0"/>
                </a:moveTo>
                <a:lnTo>
                  <a:pt x="4875251" y="0"/>
                </a:lnTo>
                <a:lnTo>
                  <a:pt x="4875251" y="2209352"/>
                </a:lnTo>
                <a:lnTo>
                  <a:pt x="0" y="22093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568268" y="5720574"/>
            <a:ext cx="3994958" cy="1982498"/>
          </a:xfrm>
          <a:custGeom>
            <a:avLst/>
            <a:gdLst/>
            <a:ahLst/>
            <a:cxnLst/>
            <a:rect r="r" b="b" t="t" l="l"/>
            <a:pathLst>
              <a:path h="1982498" w="3994958">
                <a:moveTo>
                  <a:pt x="0" y="0"/>
                </a:moveTo>
                <a:lnTo>
                  <a:pt x="3994958" y="0"/>
                </a:lnTo>
                <a:lnTo>
                  <a:pt x="3994958" y="1982498"/>
                </a:lnTo>
                <a:lnTo>
                  <a:pt x="0" y="19824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313336" y="7703072"/>
            <a:ext cx="5130457" cy="2487232"/>
          </a:xfrm>
          <a:custGeom>
            <a:avLst/>
            <a:gdLst/>
            <a:ahLst/>
            <a:cxnLst/>
            <a:rect r="r" b="b" t="t" l="l"/>
            <a:pathLst>
              <a:path h="2487232" w="5130457">
                <a:moveTo>
                  <a:pt x="0" y="0"/>
                </a:moveTo>
                <a:lnTo>
                  <a:pt x="5130457" y="0"/>
                </a:lnTo>
                <a:lnTo>
                  <a:pt x="5130457" y="2487232"/>
                </a:lnTo>
                <a:lnTo>
                  <a:pt x="0" y="24872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202914" y="982765"/>
            <a:ext cx="7426226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99"/>
              </a:lnSpc>
            </a:pPr>
            <a:r>
              <a:rPr lang="en-US" sz="5499" b="true">
                <a:solidFill>
                  <a:srgbClr val="2F3B69"/>
                </a:solidFill>
                <a:latin typeface="Poppins Bold"/>
                <a:ea typeface="Poppins Bold"/>
                <a:cs typeface="Poppins Bold"/>
                <a:sym typeface="Poppins Bold"/>
              </a:rPr>
              <a:t>2. Project Wireframe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74389" y="3494088"/>
            <a:ext cx="14684911" cy="267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table below summarizes the performance of the different forecasting models evaluated on the dataset.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metrics include Mean Absolute Error (MAE), Root Mean Squared Error (RMSE), R² Score, and Mean Absolute Percentage Error (MAPE), which collectively provide insights into prediction accuracy and reliability.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02914" y="2357489"/>
            <a:ext cx="12761268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b="true" sz="3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Model Performance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4200"/>
                </a:lnSpc>
              </a:pP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8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7259300" y="616028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5"/>
                </a:lnTo>
                <a:lnTo>
                  <a:pt x="4518707" y="3939865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523980" y="6587165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348623" y="1357415"/>
            <a:ext cx="8282583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99"/>
              </a:lnSpc>
            </a:pPr>
            <a:r>
              <a:rPr lang="en-US" sz="5499" b="true">
                <a:solidFill>
                  <a:srgbClr val="2F3B69"/>
                </a:solidFill>
                <a:latin typeface="Poppins Bold"/>
                <a:ea typeface="Poppins Bold"/>
                <a:cs typeface="Poppins Bold"/>
                <a:sym typeface="Poppins Bold"/>
              </a:rPr>
              <a:t>3. End Users + Features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202914" y="2759126"/>
            <a:ext cx="15056386" cy="2792361"/>
            <a:chOff x="0" y="0"/>
            <a:chExt cx="20075181" cy="3723149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495300" y="894224"/>
              <a:ext cx="19579881" cy="2828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Business Owners &amp; Managers</a:t>
              </a:r>
            </a:p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Inv</a:t>
              </a:r>
              <a:r>
                <a:rPr lang="en-US" sz="3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entory &amp; Supply Chain Teams</a:t>
              </a:r>
            </a:p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Marketing Teams</a:t>
              </a:r>
            </a:p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</a:t>
              </a:r>
              <a:r>
                <a:rPr lang="en-US" sz="3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ata Analysts / Data Science Teams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114300"/>
              <a:ext cx="4518223" cy="918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863599" indent="-431800" lvl="1">
                <a:lnSpc>
                  <a:spcPts val="5599"/>
                </a:lnSpc>
                <a:buFont typeface="Arial"/>
                <a:buChar char="•"/>
              </a:pPr>
              <a:r>
                <a:rPr lang="en-US" b="true" sz="3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End Users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574389" y="6619824"/>
            <a:ext cx="14684911" cy="320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Sales &amp; Demand Forecasting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Interactiv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Dashboard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Automated Data Pipeline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at-If Scenario Simulation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Alerts &amp; Notifications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 Performance Monitoring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02914" y="5856288"/>
            <a:ext cx="8428292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b="true" sz="3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Key Features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9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7259300" y="616028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5"/>
                </a:lnTo>
                <a:lnTo>
                  <a:pt x="4518707" y="3939865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523980" y="6587165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348623" y="1357415"/>
            <a:ext cx="8282583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99"/>
              </a:lnSpc>
            </a:pPr>
            <a:r>
              <a:rPr lang="en-US" sz="5499" b="true">
                <a:solidFill>
                  <a:srgbClr val="2F3B69"/>
                </a:solidFill>
                <a:latin typeface="Poppins Bold"/>
                <a:ea typeface="Poppins Bold"/>
                <a:cs typeface="Poppins Bold"/>
                <a:sym typeface="Poppins Bold"/>
              </a:rPr>
              <a:t>3. End Users + Features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02914" y="2644826"/>
            <a:ext cx="11932593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b="true" sz="3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How the Features Solve User Problems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74389" y="3495675"/>
            <a:ext cx="14684911" cy="427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Business Owners &amp; Managers: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Forecasts support better decision-making and strategic planning.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Inventory &amp; Supply Chain Teams: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Demand predictions reduce overstock and prevent stockouts.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Marketing &amp; Strategy Teams: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Scenario analysis helps plan effective marketing actions.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Analysts &amp; Data Science Teams: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Automation and monitoring simplify model maintenance.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10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7259300" y="616028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5"/>
                </a:lnTo>
                <a:lnTo>
                  <a:pt x="4518707" y="3939865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523980" y="6587165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348623" y="1357415"/>
            <a:ext cx="11176992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99"/>
              </a:lnSpc>
            </a:pPr>
            <a:r>
              <a:rPr lang="en-US" sz="5499" b="true">
                <a:solidFill>
                  <a:srgbClr val="2F3B69"/>
                </a:solidFill>
                <a:latin typeface="Poppins Bold"/>
                <a:ea typeface="Poppins Bold"/>
                <a:cs typeface="Poppins Bold"/>
                <a:sym typeface="Poppins Bold"/>
              </a:rPr>
              <a:t> 4. Data Structure (CSV-based)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202914" y="2759126"/>
            <a:ext cx="15056386" cy="3946474"/>
            <a:chOff x="0" y="0"/>
            <a:chExt cx="20075181" cy="5261965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114300"/>
              <a:ext cx="15910123" cy="918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863599" indent="-431800" lvl="1">
                <a:lnSpc>
                  <a:spcPts val="5599"/>
                </a:lnSpc>
                <a:buFont typeface="Arial"/>
                <a:buChar char="•"/>
              </a:pPr>
              <a:r>
                <a:rPr lang="en-US" b="true" sz="3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Some Features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95300" y="1010640"/>
              <a:ext cx="19579881" cy="425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Order Date, Ship Date → Track order timing and shipping duration</a:t>
              </a:r>
            </a:p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Product ID, Category, Sub-Category → Track product types and categories</a:t>
              </a:r>
            </a:p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Customer ID, Segment, Region → Analyze customer behavior and segmentation</a:t>
              </a:r>
            </a:p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Total Sales, Quantity → Main target variables for forecasting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202914" y="7124700"/>
            <a:ext cx="15056386" cy="1812874"/>
            <a:chOff x="0" y="0"/>
            <a:chExt cx="20075181" cy="2417165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114300"/>
              <a:ext cx="15910123" cy="918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863599" indent="-431800" lvl="1">
                <a:lnSpc>
                  <a:spcPts val="5599"/>
                </a:lnSpc>
                <a:buFont typeface="Arial"/>
                <a:buChar char="•"/>
              </a:pPr>
              <a:r>
                <a:rPr lang="en-US" b="true" sz="3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Shape of Data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95300" y="1010640"/>
              <a:ext cx="19579881" cy="1406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Rows: 44,119 orders</a:t>
              </a:r>
            </a:p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Columns: 44 features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11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7259300" y="616028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5"/>
                </a:lnTo>
                <a:lnTo>
                  <a:pt x="4518707" y="3939865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523980" y="6587165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348623" y="1357415"/>
            <a:ext cx="11176992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99"/>
              </a:lnSpc>
            </a:pPr>
            <a:r>
              <a:rPr lang="en-US" sz="5499" b="true">
                <a:solidFill>
                  <a:srgbClr val="2F3B69"/>
                </a:solidFill>
                <a:latin typeface="Poppins Bold"/>
                <a:ea typeface="Poppins Bold"/>
                <a:cs typeface="Poppins Bold"/>
                <a:sym typeface="Poppins Bold"/>
              </a:rPr>
              <a:t> 4. Data Structure (CSV-based)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202914" y="2759126"/>
            <a:ext cx="15056386" cy="2346274"/>
            <a:chOff x="0" y="0"/>
            <a:chExt cx="20075181" cy="3128365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114300"/>
              <a:ext cx="15910123" cy="918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863599" indent="-431800" lvl="1">
                <a:lnSpc>
                  <a:spcPts val="5599"/>
                </a:lnSpc>
                <a:buFont typeface="Arial"/>
                <a:buChar char="•"/>
              </a:pPr>
              <a:r>
                <a:rPr lang="en-US" b="true" sz="3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 Balance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95300" y="1010640"/>
              <a:ext cx="19579881" cy="2117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Distribution of sales and demand is imbalanced across products and regions</a:t>
              </a:r>
            </a:p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Some products or regions appear more frequently than others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202914" y="5524500"/>
            <a:ext cx="15056386" cy="3413074"/>
            <a:chOff x="0" y="0"/>
            <a:chExt cx="20075181" cy="4550765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114300"/>
              <a:ext cx="15910123" cy="918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863599" indent="-431800" lvl="1">
                <a:lnSpc>
                  <a:spcPts val="5599"/>
                </a:lnSpc>
                <a:buFont typeface="Arial"/>
                <a:buChar char="•"/>
              </a:pPr>
              <a:r>
                <a:rPr lang="en-US" b="true" sz="3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Tec</a:t>
              </a:r>
              <a:r>
                <a:rPr lang="en-US" b="true" sz="3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hniques Used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95300" y="1010640"/>
              <a:ext cx="19579881" cy="3540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Handling missing values</a:t>
              </a:r>
            </a:p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Enc</a:t>
              </a:r>
              <a:r>
                <a:rPr lang="en-US" sz="3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oding categorical variables into numerical form</a:t>
              </a:r>
            </a:p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Feature engineering: lag features, rolling averages</a:t>
              </a:r>
            </a:p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Scaling of numerical features</a:t>
              </a:r>
            </a:p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Splitting data into training and testing sets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12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7259300" y="616028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5"/>
                </a:lnTo>
                <a:lnTo>
                  <a:pt x="4518707" y="3939865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523980" y="6587165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348623" y="1357415"/>
            <a:ext cx="15226754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99"/>
              </a:lnSpc>
            </a:pPr>
            <a:r>
              <a:rPr lang="en-US" sz="5499" b="true">
                <a:solidFill>
                  <a:srgbClr val="2F3B69"/>
                </a:solidFill>
                <a:latin typeface="Poppins Bold"/>
                <a:ea typeface="Poppins Bold"/>
                <a:cs typeface="Poppins Bold"/>
                <a:sym typeface="Poppins Bold"/>
              </a:rPr>
              <a:t>5. Programming Languages + Frameworks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202914" y="2759126"/>
            <a:ext cx="14399161" cy="1562049"/>
            <a:chOff x="0" y="0"/>
            <a:chExt cx="19198881" cy="2082732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104775"/>
              <a:ext cx="15215632" cy="811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755651" indent="-377825" lvl="1">
                <a:lnSpc>
                  <a:spcPts val="4900"/>
                </a:lnSpc>
                <a:buFont typeface="Arial"/>
                <a:buChar char="•"/>
              </a:pPr>
              <a:r>
                <a:rPr lang="en-US" b="true" sz="35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Programming Languages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73680" y="932323"/>
              <a:ext cx="18725201" cy="1150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Python → Main language for data analysis, preprocessing, and machine learning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JavaScript / HTML / CSS → For dashboard interactivity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202914" y="4740275"/>
            <a:ext cx="14713486" cy="2438349"/>
            <a:chOff x="0" y="0"/>
            <a:chExt cx="19617981" cy="3251132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104775"/>
              <a:ext cx="15547780" cy="811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755651" indent="-377825" lvl="1">
                <a:lnSpc>
                  <a:spcPts val="4900"/>
                </a:lnSpc>
                <a:buFont typeface="Arial"/>
                <a:buChar char="•"/>
              </a:pPr>
              <a:r>
                <a:rPr lang="en-US" b="true" sz="35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Framework</a:t>
              </a:r>
              <a:r>
                <a:rPr lang="en-US" b="true" sz="35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 / Tools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84020" y="932323"/>
              <a:ext cx="19133961" cy="23188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Pa</a:t>
              </a: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</a:t>
              </a: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das &amp; NumPy → Data manipulation and numerical operations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Scikit-learn / XGBoost → Machine learning models for sales and demand prediction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Matplotlib &amp; Seaborn / Plotly → Data visualization and charts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Streamlit → Bui</a:t>
              </a: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lding interactive dashboards 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202914" y="7597724"/>
            <a:ext cx="14399161" cy="2438349"/>
            <a:chOff x="0" y="0"/>
            <a:chExt cx="19198881" cy="3251132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104775"/>
              <a:ext cx="15215632" cy="811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755651" indent="-377825" lvl="1">
                <a:lnSpc>
                  <a:spcPts val="4900"/>
                </a:lnSpc>
                <a:buFont typeface="Arial"/>
                <a:buChar char="•"/>
              </a:pPr>
              <a:r>
                <a:rPr lang="en-US" b="true" sz="35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Supporting Technologies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473680" y="932323"/>
              <a:ext cx="18725201" cy="23188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APIs → For fetching external data.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CSV / Excel Files → Data input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Cloud Platforms (e.g.,  Google Colab) →Used for running Python code, data preprocessing, and training machine learning models in the cloud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13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7259300" y="616028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5"/>
                </a:lnTo>
                <a:lnTo>
                  <a:pt x="4518707" y="3939865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523980" y="6587165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348623" y="1357415"/>
            <a:ext cx="5209877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99"/>
              </a:lnSpc>
            </a:pPr>
            <a:r>
              <a:rPr lang="en-US" sz="5499" b="true">
                <a:solidFill>
                  <a:srgbClr val="2F3B69"/>
                </a:solidFill>
                <a:latin typeface="Poppins Bold"/>
                <a:ea typeface="Poppins Bold"/>
                <a:cs typeface="Poppins Bold"/>
                <a:sym typeface="Poppins Bold"/>
              </a:rPr>
              <a:t>7. Deliverables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202914" y="2768651"/>
            <a:ext cx="14399161" cy="2000199"/>
            <a:chOff x="0" y="0"/>
            <a:chExt cx="19198881" cy="2666932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104775"/>
              <a:ext cx="15215632" cy="811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755651" indent="-377825" lvl="1">
                <a:lnSpc>
                  <a:spcPts val="4900"/>
                </a:lnSpc>
                <a:buFont typeface="Arial"/>
                <a:buChar char="•"/>
              </a:pPr>
              <a:r>
                <a:rPr lang="en-US" b="true" sz="35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Reports &amp; Documentation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73680" y="932323"/>
              <a:ext cx="18725201" cy="17346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Milestone Reports: 4 milestone reports covering each development phase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Monitoring Documentation: Reports on model performance and updates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Final Project Report: Comprehensive summary of methodology, results, and insights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202914" y="5143500"/>
            <a:ext cx="14713486" cy="2438349"/>
            <a:chOff x="0" y="0"/>
            <a:chExt cx="19617981" cy="3251132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104775"/>
              <a:ext cx="15547780" cy="811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755651" indent="-377825" lvl="1">
                <a:lnSpc>
                  <a:spcPts val="4900"/>
                </a:lnSpc>
                <a:buFont typeface="Arial"/>
                <a:buChar char="•"/>
              </a:pPr>
              <a:r>
                <a:rPr lang="en-US" b="true" sz="35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</a:t>
              </a:r>
              <a:r>
                <a:rPr lang="en-US" b="true" sz="35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</a:t>
              </a:r>
              <a:r>
                <a:rPr lang="en-US" b="true" sz="35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ource</a:t>
              </a:r>
              <a:r>
                <a:rPr lang="en-US" b="true" sz="35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Code&amp; Data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84020" y="932323"/>
              <a:ext cx="19133961" cy="23188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Milestone Codes: Python scripts for all 4 milestones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Data Files: Original CSV data + all modifications and preprocessing steps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Ful</a:t>
              </a: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ly documented and ready for review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GitHub Repository: Link to full project, code, and data ( </a:t>
              </a:r>
              <a:r>
                <a:rPr lang="en-US" sz="2499" u="sng">
                  <a:solidFill>
                    <a:srgbClr val="3E77B1"/>
                  </a:solidFill>
                  <a:latin typeface="Poppins"/>
                  <a:ea typeface="Poppins"/>
                  <a:cs typeface="Poppins"/>
                  <a:sym typeface="Poppins"/>
                  <a:hlinkClick r:id="rId4" tooltip="https://github.com/Mohamed-Kadry-Hussien/Sales_Forecasting_and_Demand_Prediction/"/>
                </a:rPr>
                <a:t>GITHUB LINK</a:t>
              </a: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202914" y="7953324"/>
            <a:ext cx="14399161" cy="1562049"/>
            <a:chOff x="0" y="0"/>
            <a:chExt cx="19198881" cy="2082732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104775"/>
              <a:ext cx="15215632" cy="811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755651" indent="-377825" lvl="1">
                <a:lnSpc>
                  <a:spcPts val="4900"/>
                </a:lnSpc>
                <a:buFont typeface="Arial"/>
                <a:buChar char="•"/>
              </a:pPr>
              <a:r>
                <a:rPr lang="en-US" b="true" sz="35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Other Final Products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473680" y="932323"/>
              <a:ext cx="18725201" cy="1150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Working Application: Functional sales forecasting and demand prediction system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Presentation Slides: Final slides summarizing project and results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88285" y="3263640"/>
            <a:ext cx="8819592" cy="187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510"/>
              </a:lnSpc>
              <a:spcBef>
                <a:spcPct val="0"/>
              </a:spcBef>
            </a:pPr>
            <a:r>
              <a:rPr lang="en-US" b="true" sz="10364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 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0800000">
            <a:off x="13591678" y="-3198527"/>
            <a:ext cx="9392643" cy="9529477"/>
          </a:xfrm>
          <a:custGeom>
            <a:avLst/>
            <a:gdLst/>
            <a:ahLst/>
            <a:cxnLst/>
            <a:rect r="r" b="b" t="t" l="l"/>
            <a:pathLst>
              <a:path h="9529477" w="9392643">
                <a:moveTo>
                  <a:pt x="0" y="0"/>
                </a:moveTo>
                <a:lnTo>
                  <a:pt x="9392644" y="0"/>
                </a:lnTo>
                <a:lnTo>
                  <a:pt x="9392644" y="9529477"/>
                </a:lnTo>
                <a:lnTo>
                  <a:pt x="0" y="95294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3800475" cy="10287000"/>
            <a:chOff x="0" y="0"/>
            <a:chExt cx="5067300" cy="13716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694446" cy="13716000"/>
              <a:chOff x="0" y="0"/>
              <a:chExt cx="334705" cy="2709333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34705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334705">
                    <a:moveTo>
                      <a:pt x="0" y="0"/>
                    </a:moveTo>
                    <a:lnTo>
                      <a:pt x="334705" y="0"/>
                    </a:lnTo>
                    <a:lnTo>
                      <a:pt x="334705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145DA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57150"/>
                <a:ext cx="334705" cy="27664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46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1689100" y="0"/>
              <a:ext cx="1689100" cy="13716000"/>
              <a:chOff x="0" y="0"/>
              <a:chExt cx="333649" cy="270933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33649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333649">
                    <a:moveTo>
                      <a:pt x="0" y="0"/>
                    </a:moveTo>
                    <a:lnTo>
                      <a:pt x="333649" y="0"/>
                    </a:lnTo>
                    <a:lnTo>
                      <a:pt x="333649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509FD6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57150"/>
                <a:ext cx="333649" cy="27664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46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3378200" y="0"/>
              <a:ext cx="1689100" cy="13716000"/>
              <a:chOff x="0" y="0"/>
              <a:chExt cx="333649" cy="270933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33649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333649">
                    <a:moveTo>
                      <a:pt x="0" y="0"/>
                    </a:moveTo>
                    <a:lnTo>
                      <a:pt x="333649" y="0"/>
                    </a:lnTo>
                    <a:lnTo>
                      <a:pt x="333649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0BFDF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57150"/>
                <a:ext cx="333649" cy="27664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46"/>
                  </a:lnSpc>
                </a:pPr>
              </a:p>
            </p:txBody>
          </p:sp>
        </p:grpSp>
      </p:grpSp>
      <p:sp>
        <p:nvSpPr>
          <p:cNvPr name="Freeform 14" id="14"/>
          <p:cNvSpPr/>
          <p:nvPr/>
        </p:nvSpPr>
        <p:spPr>
          <a:xfrm flipH="false" flipV="false" rot="0">
            <a:off x="4355046" y="7016750"/>
            <a:ext cx="439326" cy="602567"/>
          </a:xfrm>
          <a:custGeom>
            <a:avLst/>
            <a:gdLst/>
            <a:ahLst/>
            <a:cxnLst/>
            <a:rect r="r" b="b" t="t" l="l"/>
            <a:pathLst>
              <a:path h="602567" w="439326">
                <a:moveTo>
                  <a:pt x="0" y="0"/>
                </a:moveTo>
                <a:lnTo>
                  <a:pt x="439326" y="0"/>
                </a:lnTo>
                <a:lnTo>
                  <a:pt x="439326" y="602567"/>
                </a:lnTo>
                <a:lnTo>
                  <a:pt x="0" y="6025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288285" y="8136995"/>
            <a:ext cx="661687" cy="508898"/>
          </a:xfrm>
          <a:custGeom>
            <a:avLst/>
            <a:gdLst/>
            <a:ahLst/>
            <a:cxnLst/>
            <a:rect r="r" b="b" t="t" l="l"/>
            <a:pathLst>
              <a:path h="508898" w="661687">
                <a:moveTo>
                  <a:pt x="0" y="0"/>
                </a:moveTo>
                <a:lnTo>
                  <a:pt x="661688" y="0"/>
                </a:lnTo>
                <a:lnTo>
                  <a:pt x="661688" y="508898"/>
                </a:lnTo>
                <a:lnTo>
                  <a:pt x="0" y="5088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288285" y="9168113"/>
            <a:ext cx="661687" cy="661687"/>
          </a:xfrm>
          <a:custGeom>
            <a:avLst/>
            <a:gdLst/>
            <a:ahLst/>
            <a:cxnLst/>
            <a:rect r="r" b="b" t="t" l="l"/>
            <a:pathLst>
              <a:path h="661687" w="661687">
                <a:moveTo>
                  <a:pt x="0" y="0"/>
                </a:moveTo>
                <a:lnTo>
                  <a:pt x="661688" y="0"/>
                </a:lnTo>
                <a:lnTo>
                  <a:pt x="661688" y="661687"/>
                </a:lnTo>
                <a:lnTo>
                  <a:pt x="0" y="6616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279853" y="6992856"/>
            <a:ext cx="11979447" cy="276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 u="sng">
                <a:solidFill>
                  <a:srgbClr val="452B4E"/>
                </a:solidFill>
                <a:latin typeface="Garet"/>
                <a:ea typeface="Garet"/>
                <a:cs typeface="Garet"/>
                <a:sym typeface="Garet"/>
                <a:hlinkClick r:id="rId10" tooltip="https://www.linkedin.com/in/mohamed-kadry-bba826254/"/>
              </a:rPr>
              <a:t>+20 12 00362964</a:t>
            </a:r>
          </a:p>
          <a:p>
            <a:pPr algn="l">
              <a:lnSpc>
                <a:spcPts val="4550"/>
              </a:lnSpc>
            </a:pPr>
          </a:p>
          <a:p>
            <a:pPr algn="l">
              <a:lnSpc>
                <a:spcPts val="4550"/>
              </a:lnSpc>
            </a:pPr>
            <a:r>
              <a:rPr lang="en-US" sz="3500" u="sng">
                <a:solidFill>
                  <a:srgbClr val="452B4E"/>
                </a:solidFill>
                <a:latin typeface="Garet"/>
                <a:ea typeface="Garet"/>
                <a:cs typeface="Garet"/>
                <a:sym typeface="Garet"/>
                <a:hlinkClick r:id="rId11" tooltip="https://www.linkedin.com/in/mohamed-kadry-bba826254/"/>
              </a:rPr>
              <a:t>mokadry2004@gmail.com</a:t>
            </a:r>
          </a:p>
          <a:p>
            <a:pPr algn="l">
              <a:lnSpc>
                <a:spcPts val="4550"/>
              </a:lnSpc>
            </a:pPr>
          </a:p>
          <a:p>
            <a:pPr algn="l">
              <a:lnSpc>
                <a:spcPts val="3900"/>
              </a:lnSpc>
            </a:pPr>
            <a:r>
              <a:rPr lang="en-US" sz="3000" u="sng">
                <a:solidFill>
                  <a:srgbClr val="452B4E"/>
                </a:solidFill>
                <a:latin typeface="Garet"/>
                <a:ea typeface="Garet"/>
                <a:cs typeface="Garet"/>
                <a:sym typeface="Garet"/>
                <a:hlinkClick r:id="rId12" tooltip="https://www.linkedin.com/in/mohamed-kadry-bba826254/"/>
              </a:rPr>
              <a:t>https://www.linkedin.com/in/mohamed-kadry-bba826254/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DAG6LTp02J0</dc:identifier>
  <dcterms:modified xsi:type="dcterms:W3CDTF">2011-08-01T06:04:30Z</dcterms:modified>
  <cp:revision>1</cp:revision>
  <dc:title>Sales Forecasting &amp;Demand Prediction</dc:title>
</cp:coreProperties>
</file>