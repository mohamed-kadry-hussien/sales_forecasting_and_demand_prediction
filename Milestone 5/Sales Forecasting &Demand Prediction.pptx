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aret" panose="020B0604020202020204" charset="0"/>
      <p:regular r:id="rId16"/>
    </p:embeddedFont>
    <p:embeddedFont>
      <p:font typeface="Poppins" panose="00000500000000000000" pitchFamily="2" charset="0"/>
      <p:regular r:id="rId17"/>
    </p:embeddedFont>
    <p:embeddedFont>
      <p:font typeface="Poppins Bold" panose="00000800000000000000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195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ohamed-Kadry-Hussien/Sales_Forecasting_and_Demand_Prediction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10" Type="http://schemas.openxmlformats.org/officeDocument/2006/relationships/hyperlink" Target="https://www.linkedin.com/in/mohamed-kadry-bba826254/" TargetMode="External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97502" y="5590237"/>
            <a:ext cx="14099416" cy="140994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391331" y="2806317"/>
            <a:ext cx="14434478" cy="402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7500" b="1">
                <a:solidFill>
                  <a:srgbClr val="051D40"/>
                </a:solidFill>
                <a:latin typeface="Poppins Bold"/>
                <a:ea typeface="Poppins Bold"/>
                <a:cs typeface="Poppins Bold"/>
                <a:sym typeface="Poppins Bold"/>
              </a:rPr>
              <a:t>Sales Forecasting</a:t>
            </a:r>
          </a:p>
          <a:p>
            <a:pPr algn="l">
              <a:lnSpc>
                <a:spcPts val="10500"/>
              </a:lnSpc>
            </a:pPr>
            <a:r>
              <a:rPr lang="en-US" sz="7500" b="1">
                <a:solidFill>
                  <a:srgbClr val="051D40"/>
                </a:solidFill>
                <a:latin typeface="Poppins Bold"/>
                <a:ea typeface="Poppins Bold"/>
                <a:cs typeface="Poppins Bold"/>
                <a:sym typeface="Poppins Bold"/>
              </a:rPr>
              <a:t>&amp;Demand </a:t>
            </a:r>
          </a:p>
          <a:p>
            <a:pPr algn="l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051D40"/>
                </a:solidFill>
                <a:latin typeface="Poppins Bold"/>
                <a:ea typeface="Poppins Bold"/>
                <a:cs typeface="Poppins Bold"/>
                <a:sym typeface="Poppins Bold"/>
              </a:rPr>
              <a:t>Prediction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6420234" y="-1717598"/>
            <a:ext cx="3735531" cy="373553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47857" y="-643475"/>
            <a:ext cx="1286950" cy="128695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29195" y="8389571"/>
            <a:ext cx="3735531" cy="3735531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8757394" y="7522582"/>
            <a:ext cx="8779632" cy="1733977"/>
          </a:xfrm>
          <a:custGeom>
            <a:avLst/>
            <a:gdLst/>
            <a:ahLst/>
            <a:cxnLst/>
            <a:rect l="l" t="t" r="r" b="b"/>
            <a:pathLst>
              <a:path w="8779632" h="1733977">
                <a:moveTo>
                  <a:pt x="0" y="0"/>
                </a:moveTo>
                <a:lnTo>
                  <a:pt x="8779632" y="0"/>
                </a:lnTo>
                <a:lnTo>
                  <a:pt x="8779632" y="1733977"/>
                </a:lnTo>
                <a:lnTo>
                  <a:pt x="0" y="17339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9561421" y="3143201"/>
            <a:ext cx="9525283" cy="5463587"/>
            <a:chOff x="0" y="0"/>
            <a:chExt cx="7981950" cy="4578350"/>
          </a:xfrm>
        </p:grpSpPr>
        <p:sp>
          <p:nvSpPr>
            <p:cNvPr id="17" name="Freeform 17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24242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962660" y="276860"/>
              <a:ext cx="6055360" cy="3789680"/>
            </a:xfrm>
            <a:custGeom>
              <a:avLst/>
              <a:gdLst/>
              <a:ahLst/>
              <a:cxnLst/>
              <a:rect l="l" t="t" r="r" b="b"/>
              <a:pathLst>
                <a:path w="6055360" h="378968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3"/>
              <a:stretch>
                <a:fillRect l="-6381" r="-638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Freeform 22"/>
          <p:cNvSpPr/>
          <p:nvPr/>
        </p:nvSpPr>
        <p:spPr>
          <a:xfrm>
            <a:off x="1806336" y="263847"/>
            <a:ext cx="1650021" cy="1529707"/>
          </a:xfrm>
          <a:custGeom>
            <a:avLst/>
            <a:gdLst/>
            <a:ahLst/>
            <a:cxnLst/>
            <a:rect l="l" t="t" r="r" b="b"/>
            <a:pathLst>
              <a:path w="1650021" h="1529707">
                <a:moveTo>
                  <a:pt x="0" y="0"/>
                </a:moveTo>
                <a:lnTo>
                  <a:pt x="1650021" y="0"/>
                </a:lnTo>
                <a:lnTo>
                  <a:pt x="1650021" y="1529706"/>
                </a:lnTo>
                <a:lnTo>
                  <a:pt x="0" y="15297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4324062" y="765473"/>
            <a:ext cx="2024823" cy="526454"/>
          </a:xfrm>
          <a:custGeom>
            <a:avLst/>
            <a:gdLst/>
            <a:ahLst/>
            <a:cxnLst/>
            <a:rect l="l" t="t" r="r" b="b"/>
            <a:pathLst>
              <a:path w="2024823" h="526454">
                <a:moveTo>
                  <a:pt x="0" y="0"/>
                </a:moveTo>
                <a:lnTo>
                  <a:pt x="2024822" y="0"/>
                </a:lnTo>
                <a:lnTo>
                  <a:pt x="2024822" y="526454"/>
                </a:lnTo>
                <a:lnTo>
                  <a:pt x="0" y="5264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391330" y="6967302"/>
            <a:ext cx="4247469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spc="-6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DEPI Final Project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91331" y="7436857"/>
            <a:ext cx="3104469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spc="-6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67766" y="-1792431"/>
            <a:ext cx="3735531" cy="373553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5400000">
            <a:off x="451894" y="3800091"/>
            <a:ext cx="462291" cy="410178"/>
          </a:xfrm>
          <a:custGeom>
            <a:avLst/>
            <a:gdLst/>
            <a:ahLst/>
            <a:cxnLst/>
            <a:rect l="l" t="t" r="r" b="b"/>
            <a:pathLst>
              <a:path w="462291" h="410178">
                <a:moveTo>
                  <a:pt x="0" y="0"/>
                </a:moveTo>
                <a:lnTo>
                  <a:pt x="462291" y="0"/>
                </a:lnTo>
                <a:lnTo>
                  <a:pt x="462291" y="410178"/>
                </a:lnTo>
                <a:lnTo>
                  <a:pt x="0" y="410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5400000">
            <a:off x="451894" y="5169556"/>
            <a:ext cx="462291" cy="410178"/>
          </a:xfrm>
          <a:custGeom>
            <a:avLst/>
            <a:gdLst/>
            <a:ahLst/>
            <a:cxnLst/>
            <a:rect l="l" t="t" r="r" b="b"/>
            <a:pathLst>
              <a:path w="462291" h="410178">
                <a:moveTo>
                  <a:pt x="0" y="0"/>
                </a:moveTo>
                <a:lnTo>
                  <a:pt x="462291" y="0"/>
                </a:lnTo>
                <a:lnTo>
                  <a:pt x="462291" y="410178"/>
                </a:lnTo>
                <a:lnTo>
                  <a:pt x="0" y="410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5400000">
            <a:off x="451894" y="6536722"/>
            <a:ext cx="462291" cy="410178"/>
          </a:xfrm>
          <a:custGeom>
            <a:avLst/>
            <a:gdLst/>
            <a:ahLst/>
            <a:cxnLst/>
            <a:rect l="l" t="t" r="r" b="b"/>
            <a:pathLst>
              <a:path w="462291" h="410178">
                <a:moveTo>
                  <a:pt x="0" y="0"/>
                </a:moveTo>
                <a:lnTo>
                  <a:pt x="462291" y="0"/>
                </a:lnTo>
                <a:lnTo>
                  <a:pt x="462291" y="410178"/>
                </a:lnTo>
                <a:lnTo>
                  <a:pt x="0" y="410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5400000">
            <a:off x="451894" y="7794967"/>
            <a:ext cx="462291" cy="410178"/>
          </a:xfrm>
          <a:custGeom>
            <a:avLst/>
            <a:gdLst/>
            <a:ahLst/>
            <a:cxnLst/>
            <a:rect l="l" t="t" r="r" b="b"/>
            <a:pathLst>
              <a:path w="462291" h="410178">
                <a:moveTo>
                  <a:pt x="0" y="0"/>
                </a:moveTo>
                <a:lnTo>
                  <a:pt x="462291" y="0"/>
                </a:lnTo>
                <a:lnTo>
                  <a:pt x="462291" y="410178"/>
                </a:lnTo>
                <a:lnTo>
                  <a:pt x="0" y="410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 rot="5400000">
            <a:off x="451894" y="9053211"/>
            <a:ext cx="462291" cy="410178"/>
          </a:xfrm>
          <a:custGeom>
            <a:avLst/>
            <a:gdLst/>
            <a:ahLst/>
            <a:cxnLst/>
            <a:rect l="l" t="t" r="r" b="b"/>
            <a:pathLst>
              <a:path w="462291" h="410178">
                <a:moveTo>
                  <a:pt x="0" y="0"/>
                </a:moveTo>
                <a:lnTo>
                  <a:pt x="462291" y="0"/>
                </a:lnTo>
                <a:lnTo>
                  <a:pt x="462291" y="410178"/>
                </a:lnTo>
                <a:lnTo>
                  <a:pt x="0" y="410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208304" y="2488713"/>
          <a:ext cx="16050997" cy="7519145"/>
        </p:xfrm>
        <a:graphic>
          <a:graphicData uri="http://schemas.openxmlformats.org/drawingml/2006/table">
            <a:tbl>
              <a:tblPr/>
              <a:tblGrid>
                <a:gridCol w="911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0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223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81931">
                <a:tc>
                  <a:txBody>
                    <a:bodyPr/>
                    <a:lstStyle/>
                    <a:p>
                      <a:pPr algn="ctr">
                        <a:lnSpc>
                          <a:spcPts val="3278"/>
                        </a:lnSpc>
                        <a:defRPr/>
                      </a:pPr>
                      <a:r>
                        <a:rPr lang="en-US" sz="2341" b="1">
                          <a:solidFill>
                            <a:srgbClr val="000000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No.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9F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78"/>
                        </a:lnSpc>
                        <a:defRPr/>
                      </a:pPr>
                      <a:r>
                        <a:rPr lang="en-US" sz="2341" b="1">
                          <a:solidFill>
                            <a:srgbClr val="000000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Name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9F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 b="1">
                          <a:solidFill>
                            <a:srgbClr val="000000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ID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9F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78"/>
                        </a:lnSpc>
                        <a:defRPr/>
                      </a:pPr>
                      <a:r>
                        <a:rPr lang="en-US" sz="2341" b="1">
                          <a:solidFill>
                            <a:srgbClr val="000000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Task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9F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6535">
                <a:tc>
                  <a:txBody>
                    <a:bodyPr/>
                    <a:lstStyle/>
                    <a:p>
                      <a:pPr algn="ctr">
                        <a:lnSpc>
                          <a:spcPts val="3024"/>
                        </a:lnSpc>
                        <a:defRPr/>
                      </a:pPr>
                      <a:r>
                        <a:rPr lang="en-US" sz="2160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78"/>
                        </a:lnSpc>
                        <a:defRPr/>
                      </a:pPr>
                      <a:r>
                        <a:rPr lang="en-US" sz="234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Mohammed Kadry Hussein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21101773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1_Milestone 1</a:t>
                      </a:r>
                      <a:endParaRPr lang="en-US" sz="1100"/>
                    </a:p>
                    <a:p>
                      <a:pPr algn="ctr">
                        <a:lnSpc>
                          <a:spcPts val="3404"/>
                        </a:lnSpc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1_Miestone 3</a:t>
                      </a:r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1074">
                <a:tc>
                  <a:txBody>
                    <a:bodyPr/>
                    <a:lstStyle/>
                    <a:p>
                      <a:pPr algn="ctr">
                        <a:lnSpc>
                          <a:spcPts val="3293"/>
                        </a:lnSpc>
                        <a:defRPr/>
                      </a:pPr>
                      <a:r>
                        <a:rPr lang="en-US" sz="235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93"/>
                        </a:lnSpc>
                        <a:defRPr/>
                      </a:pPr>
                      <a:r>
                        <a:rPr lang="en-US" sz="235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Mahmoud Hamdy Ali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21068016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78"/>
                        </a:lnSpc>
                        <a:defRPr/>
                      </a:pPr>
                      <a:r>
                        <a:rPr lang="en-US" sz="234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2_Milestone 1</a:t>
                      </a:r>
                      <a:endParaRPr lang="en-US" sz="1100"/>
                    </a:p>
                    <a:p>
                      <a:pPr algn="ctr">
                        <a:lnSpc>
                          <a:spcPts val="3278"/>
                        </a:lnSpc>
                      </a:pPr>
                      <a:r>
                        <a:rPr lang="en-US" sz="234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2_Miestone 3</a:t>
                      </a:r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6535">
                <a:tc>
                  <a:txBody>
                    <a:bodyPr/>
                    <a:lstStyle/>
                    <a:p>
                      <a:pPr algn="ctr">
                        <a:lnSpc>
                          <a:spcPts val="3151"/>
                        </a:lnSpc>
                        <a:defRPr/>
                      </a:pPr>
                      <a:r>
                        <a:rPr lang="en-US" sz="225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78"/>
                        </a:lnSpc>
                        <a:defRPr/>
                      </a:pPr>
                      <a:r>
                        <a:rPr lang="en-US" sz="234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Sahar Gamal Soliman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21104497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1_Milestone 2</a:t>
                      </a:r>
                      <a:endParaRPr lang="en-US" sz="1100"/>
                    </a:p>
                    <a:p>
                      <a:pPr algn="ctr">
                        <a:lnSpc>
                          <a:spcPts val="3404"/>
                        </a:lnSpc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1_Miestone 4</a:t>
                      </a:r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6535">
                <a:tc>
                  <a:txBody>
                    <a:bodyPr/>
                    <a:lstStyle/>
                    <a:p>
                      <a:pPr algn="ctr">
                        <a:lnSpc>
                          <a:spcPts val="3024"/>
                        </a:lnSpc>
                        <a:defRPr/>
                      </a:pPr>
                      <a:r>
                        <a:rPr lang="en-US" sz="2160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78"/>
                        </a:lnSpc>
                        <a:defRPr/>
                      </a:pPr>
                      <a:r>
                        <a:rPr lang="en-US" sz="234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Fatma Salah Mohammed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21104482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3_Milestone 1</a:t>
                      </a:r>
                      <a:endParaRPr lang="en-US" sz="1100"/>
                    </a:p>
                    <a:p>
                      <a:pPr algn="ctr">
                        <a:lnSpc>
                          <a:spcPts val="3404"/>
                        </a:lnSpc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Miestone 5</a:t>
                      </a:r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6535">
                <a:tc>
                  <a:txBody>
                    <a:bodyPr/>
                    <a:lstStyle/>
                    <a:p>
                      <a:pPr algn="ctr">
                        <a:lnSpc>
                          <a:spcPts val="3024"/>
                        </a:lnSpc>
                        <a:defRPr/>
                      </a:pPr>
                      <a:r>
                        <a:rPr lang="en-US" sz="2160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78"/>
                        </a:lnSpc>
                        <a:defRPr/>
                      </a:pPr>
                      <a:r>
                        <a:rPr lang="en-US" sz="2341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Tasneem Shehab Eldin Mahmoud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BF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21070870</a:t>
                      </a:r>
                      <a:endParaRPr lang="en-US" sz="1100"/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04"/>
                        </a:lnSpc>
                        <a:defRPr/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2_Milestone 2</a:t>
                      </a:r>
                      <a:endParaRPr lang="en-US" sz="1100"/>
                    </a:p>
                    <a:p>
                      <a:pPr algn="ctr">
                        <a:lnSpc>
                          <a:spcPts val="3404"/>
                        </a:lnSpc>
                      </a:pPr>
                      <a:r>
                        <a:rPr lang="en-US" sz="2432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Part 2_Miestone 4</a:t>
                      </a:r>
                    </a:p>
                  </a:txBody>
                  <a:tcPr marL="112036" marR="112036" marT="112036" marB="112036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17583150" y="6896767"/>
            <a:ext cx="3086100" cy="4260775"/>
            <a:chOff x="0" y="0"/>
            <a:chExt cx="812800" cy="112217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122179"/>
            </a:xfrm>
            <a:custGeom>
              <a:avLst/>
              <a:gdLst/>
              <a:ahLst/>
              <a:cxnLst/>
              <a:rect l="l" t="t" r="r" b="b"/>
              <a:pathLst>
                <a:path w="812800" h="1122179">
                  <a:moveTo>
                    <a:pt x="0" y="0"/>
                  </a:moveTo>
                  <a:lnTo>
                    <a:pt x="812800" y="0"/>
                  </a:lnTo>
                  <a:lnTo>
                    <a:pt x="812800" y="1122179"/>
                  </a:lnTo>
                  <a:lnTo>
                    <a:pt x="0" y="1122179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812800" cy="1179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867766" y="847725"/>
            <a:ext cx="9079260" cy="1095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>
                <a:solidFill>
                  <a:srgbClr val="051D40"/>
                </a:solidFill>
                <a:latin typeface="Poppins Bold"/>
                <a:ea typeface="Poppins Bold"/>
                <a:cs typeface="Poppins Bold"/>
                <a:sym typeface="Poppins Bold"/>
              </a:rPr>
              <a:t>Team Members: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654138" y="-2445901"/>
            <a:ext cx="15178802" cy="1517880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7005697" y="-1797460"/>
            <a:ext cx="13881919" cy="1388191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9813" y="4639649"/>
            <a:ext cx="6033363" cy="1175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213"/>
              </a:lnSpc>
              <a:spcBef>
                <a:spcPct val="0"/>
              </a:spcBef>
            </a:pPr>
            <a:r>
              <a:rPr lang="en-US" sz="6580" b="1">
                <a:solidFill>
                  <a:srgbClr val="F2F1EC"/>
                </a:solidFill>
                <a:latin typeface="Poppins Bold"/>
                <a:ea typeface="Poppins Bold"/>
                <a:cs typeface="Poppins Bold"/>
                <a:sym typeface="Poppins Bold"/>
              </a:rPr>
              <a:t>CONTENT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370969" y="1258358"/>
            <a:ext cx="373607" cy="373607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38100" cap="sq">
              <a:solidFill>
                <a:srgbClr val="BDE2F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318339" y="4259324"/>
            <a:ext cx="373607" cy="373607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38100" cap="sq">
              <a:solidFill>
                <a:srgbClr val="BDE2F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945363" y="7387715"/>
            <a:ext cx="373607" cy="373607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38100" cap="sq">
              <a:solidFill>
                <a:srgbClr val="BDE2F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876222" y="889569"/>
            <a:ext cx="4623827" cy="1052941"/>
            <a:chOff x="0" y="0"/>
            <a:chExt cx="6165103" cy="1403921"/>
          </a:xfrm>
        </p:grpSpPr>
        <p:sp>
          <p:nvSpPr>
            <p:cNvPr id="19" name="Freeform 19"/>
            <p:cNvSpPr/>
            <p:nvPr/>
          </p:nvSpPr>
          <p:spPr>
            <a:xfrm>
              <a:off x="108265" y="0"/>
              <a:ext cx="1403921" cy="1403921"/>
            </a:xfrm>
            <a:custGeom>
              <a:avLst/>
              <a:gdLst/>
              <a:ahLst/>
              <a:cxnLst/>
              <a:rect l="l" t="t" r="r" b="b"/>
              <a:pathLst>
                <a:path w="1403921" h="1403921">
                  <a:moveTo>
                    <a:pt x="0" y="0"/>
                  </a:moveTo>
                  <a:lnTo>
                    <a:pt x="1403921" y="0"/>
                  </a:lnTo>
                  <a:lnTo>
                    <a:pt x="1403921" y="1403921"/>
                  </a:lnTo>
                  <a:lnTo>
                    <a:pt x="0" y="1403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243702"/>
              <a:ext cx="1512186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14286" y="243702"/>
              <a:ext cx="4950817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Project Idea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6510850" y="-1188693"/>
            <a:ext cx="1080715" cy="2956684"/>
            <a:chOff x="0" y="0"/>
            <a:chExt cx="284633" cy="77871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473608" y="2367156"/>
            <a:ext cx="6166877" cy="1052941"/>
            <a:chOff x="0" y="0"/>
            <a:chExt cx="8222503" cy="1403921"/>
          </a:xfrm>
        </p:grpSpPr>
        <p:sp>
          <p:nvSpPr>
            <p:cNvPr id="26" name="Freeform 26"/>
            <p:cNvSpPr/>
            <p:nvPr/>
          </p:nvSpPr>
          <p:spPr>
            <a:xfrm>
              <a:off x="108265" y="0"/>
              <a:ext cx="1403921" cy="1403921"/>
            </a:xfrm>
            <a:custGeom>
              <a:avLst/>
              <a:gdLst/>
              <a:ahLst/>
              <a:cxnLst/>
              <a:rect l="l" t="t" r="r" b="b"/>
              <a:pathLst>
                <a:path w="1403921" h="1403921">
                  <a:moveTo>
                    <a:pt x="0" y="0"/>
                  </a:moveTo>
                  <a:lnTo>
                    <a:pt x="1403921" y="0"/>
                  </a:lnTo>
                  <a:lnTo>
                    <a:pt x="1403921" y="1403921"/>
                  </a:lnTo>
                  <a:lnTo>
                    <a:pt x="0" y="1403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243702"/>
              <a:ext cx="1512186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02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214286" y="243702"/>
              <a:ext cx="7008217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Project Wireframe 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80773" y="3914835"/>
            <a:ext cx="6433576" cy="1052941"/>
            <a:chOff x="0" y="0"/>
            <a:chExt cx="8578101" cy="1403921"/>
          </a:xfrm>
        </p:grpSpPr>
        <p:sp>
          <p:nvSpPr>
            <p:cNvPr id="30" name="Freeform 30"/>
            <p:cNvSpPr/>
            <p:nvPr/>
          </p:nvSpPr>
          <p:spPr>
            <a:xfrm>
              <a:off x="108265" y="0"/>
              <a:ext cx="1403921" cy="1403921"/>
            </a:xfrm>
            <a:custGeom>
              <a:avLst/>
              <a:gdLst/>
              <a:ahLst/>
              <a:cxnLst/>
              <a:rect l="l" t="t" r="r" b="b"/>
              <a:pathLst>
                <a:path w="1403921" h="1403921">
                  <a:moveTo>
                    <a:pt x="0" y="0"/>
                  </a:moveTo>
                  <a:lnTo>
                    <a:pt x="1403921" y="0"/>
                  </a:lnTo>
                  <a:lnTo>
                    <a:pt x="1403921" y="1403921"/>
                  </a:lnTo>
                  <a:lnTo>
                    <a:pt x="0" y="1403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243702"/>
              <a:ext cx="1512186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214286" y="243702"/>
              <a:ext cx="7363815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End Users + Features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878749" y="5549675"/>
            <a:ext cx="5326908" cy="1052941"/>
            <a:chOff x="0" y="0"/>
            <a:chExt cx="7102544" cy="1403921"/>
          </a:xfrm>
        </p:grpSpPr>
        <p:sp>
          <p:nvSpPr>
            <p:cNvPr id="34" name="Freeform 34"/>
            <p:cNvSpPr/>
            <p:nvPr/>
          </p:nvSpPr>
          <p:spPr>
            <a:xfrm>
              <a:off x="108265" y="0"/>
              <a:ext cx="1403921" cy="1403921"/>
            </a:xfrm>
            <a:custGeom>
              <a:avLst/>
              <a:gdLst/>
              <a:ahLst/>
              <a:cxnLst/>
              <a:rect l="l" t="t" r="r" b="b"/>
              <a:pathLst>
                <a:path w="1403921" h="1403921">
                  <a:moveTo>
                    <a:pt x="0" y="0"/>
                  </a:moveTo>
                  <a:lnTo>
                    <a:pt x="1403921" y="0"/>
                  </a:lnTo>
                  <a:lnTo>
                    <a:pt x="1403921" y="1403921"/>
                  </a:lnTo>
                  <a:lnTo>
                    <a:pt x="0" y="1403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243702"/>
              <a:ext cx="1512186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04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214286" y="243702"/>
              <a:ext cx="5888258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 Structure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63652" y="7029308"/>
            <a:ext cx="7560108" cy="1796311"/>
            <a:chOff x="0" y="0"/>
            <a:chExt cx="10080144" cy="2395081"/>
          </a:xfrm>
        </p:grpSpPr>
        <p:sp>
          <p:nvSpPr>
            <p:cNvPr id="38" name="Freeform 38"/>
            <p:cNvSpPr/>
            <p:nvPr/>
          </p:nvSpPr>
          <p:spPr>
            <a:xfrm>
              <a:off x="108265" y="0"/>
              <a:ext cx="1403921" cy="1403921"/>
            </a:xfrm>
            <a:custGeom>
              <a:avLst/>
              <a:gdLst/>
              <a:ahLst/>
              <a:cxnLst/>
              <a:rect l="l" t="t" r="r" b="b"/>
              <a:pathLst>
                <a:path w="1403921" h="1403921">
                  <a:moveTo>
                    <a:pt x="0" y="0"/>
                  </a:moveTo>
                  <a:lnTo>
                    <a:pt x="1403921" y="0"/>
                  </a:lnTo>
                  <a:lnTo>
                    <a:pt x="1403921" y="1403921"/>
                  </a:lnTo>
                  <a:lnTo>
                    <a:pt x="0" y="1403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243702"/>
              <a:ext cx="1512186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39186" y="-67661"/>
              <a:ext cx="8440958" cy="2462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 dirty="0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Programming Languages</a:t>
              </a:r>
            </a:p>
            <a:p>
              <a:pPr algn="l">
                <a:lnSpc>
                  <a:spcPts val="4900"/>
                </a:lnSpc>
              </a:pPr>
              <a:r>
                <a:rPr lang="en-US" sz="3500" b="1" dirty="0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+ Frameworks</a:t>
              </a:r>
            </a:p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endParaRPr lang="en-US" sz="3500" b="1" dirty="0">
                <a:solidFill>
                  <a:srgbClr val="051D4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084277" y="8340279"/>
            <a:ext cx="5222413" cy="1052941"/>
            <a:chOff x="0" y="-1"/>
            <a:chExt cx="6963218" cy="1403921"/>
          </a:xfrm>
        </p:grpSpPr>
        <p:sp>
          <p:nvSpPr>
            <p:cNvPr id="42" name="Freeform 42"/>
            <p:cNvSpPr/>
            <p:nvPr/>
          </p:nvSpPr>
          <p:spPr>
            <a:xfrm>
              <a:off x="108265" y="-1"/>
              <a:ext cx="1403921" cy="1403921"/>
            </a:xfrm>
            <a:custGeom>
              <a:avLst/>
              <a:gdLst/>
              <a:ahLst/>
              <a:cxnLst/>
              <a:rect l="l" t="t" r="r" b="b"/>
              <a:pathLst>
                <a:path w="1403921" h="1403921">
                  <a:moveTo>
                    <a:pt x="0" y="0"/>
                  </a:moveTo>
                  <a:lnTo>
                    <a:pt x="1403921" y="0"/>
                  </a:lnTo>
                  <a:lnTo>
                    <a:pt x="1403921" y="1403921"/>
                  </a:lnTo>
                  <a:lnTo>
                    <a:pt x="0" y="1403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243702"/>
              <a:ext cx="1512186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06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417860" y="243702"/>
              <a:ext cx="5545358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 dirty="0">
                  <a:solidFill>
                    <a:srgbClr val="051D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Deliverables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7057655" y="2708264"/>
            <a:ext cx="373607" cy="373607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38100" cap="sq">
              <a:solidFill>
                <a:srgbClr val="BDE2F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7337860" y="5826225"/>
            <a:ext cx="373607" cy="373607"/>
            <a:chOff x="0" y="0"/>
            <a:chExt cx="812800" cy="812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38100" cap="sq">
              <a:solidFill>
                <a:srgbClr val="BDE2F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347685" y="8728141"/>
            <a:ext cx="373607" cy="373607"/>
            <a:chOff x="0" y="0"/>
            <a:chExt cx="812800" cy="8128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38100" cap="sq">
              <a:solidFill>
                <a:srgbClr val="BDE2F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4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5208538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1. Project Idea 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4389" y="3494088"/>
            <a:ext cx="14684911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Businesses struggle to accurately predict future sales and demand, which leads to poor inventory planning, inefficient marketing decisions, and potential revenue loss.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02914" y="2644826"/>
            <a:ext cx="9075093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 Description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839069" y="5948990"/>
            <a:ext cx="14684911" cy="374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Develop a machine learning–based forecasting system that analyzes historical sales data and predicts future sales and demand.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The solution will include: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predictive model 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Automated data preprocessing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Visualization dashboard to help decision-makers understand trends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Tools for monitoring and updating the model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202914" y="5208588"/>
            <a:ext cx="9075093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Proposed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5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5208538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1. Project Idea 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4389" y="3494088"/>
            <a:ext cx="14684911" cy="374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High prediction accuracy using advanced machine learning models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User-friendly dashboard that simplifies data-driven decision-making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Scalability, allowing the system to work for any product category or business size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Automation, reducing manual analysis time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Actionable insights, enabling better planning for inventory, marketing, and operations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02914" y="2644826"/>
            <a:ext cx="9075093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Unique Value Proposition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6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7426226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2. Project Wireframe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4389" y="3494088"/>
            <a:ext cx="14684911" cy="214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Input Section: Product ID, Customer ID, Order details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Submit Button: Sends data for prediction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Output Section: Forecasted Sales &amp; Demand (numbers + charts)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Optional Alerts: Highlights significant changes in demand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02914" y="2644826"/>
            <a:ext cx="12761268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Key Screen: User Data Input &amp; Prediction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20098" y="6791274"/>
            <a:ext cx="14684911" cy="2676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 navigates to Data Input Screen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Enters required details about product/order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Clicks Submit to send data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System processes the input and runs the ML model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 receives predictions and visual insights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348623" y="5942013"/>
            <a:ext cx="12761268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User Journey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7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2909803" y="5856288"/>
            <a:ext cx="5323345" cy="2096067"/>
          </a:xfrm>
          <a:custGeom>
            <a:avLst/>
            <a:gdLst/>
            <a:ahLst/>
            <a:cxnLst/>
            <a:rect l="l" t="t" r="r" b="b"/>
            <a:pathLst>
              <a:path w="5323345" h="2096067">
                <a:moveTo>
                  <a:pt x="0" y="0"/>
                </a:moveTo>
                <a:lnTo>
                  <a:pt x="5323346" y="0"/>
                </a:lnTo>
                <a:lnTo>
                  <a:pt x="5323346" y="2096067"/>
                </a:lnTo>
                <a:lnTo>
                  <a:pt x="0" y="2096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3357898" y="7952355"/>
            <a:ext cx="4875251" cy="2209353"/>
          </a:xfrm>
          <a:custGeom>
            <a:avLst/>
            <a:gdLst/>
            <a:ahLst/>
            <a:cxnLst/>
            <a:rect l="l" t="t" r="r" b="b"/>
            <a:pathLst>
              <a:path w="4875251" h="2209353">
                <a:moveTo>
                  <a:pt x="0" y="0"/>
                </a:moveTo>
                <a:lnTo>
                  <a:pt x="4875251" y="0"/>
                </a:lnTo>
                <a:lnTo>
                  <a:pt x="4875251" y="2209352"/>
                </a:lnTo>
                <a:lnTo>
                  <a:pt x="0" y="22093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0568268" y="5720574"/>
            <a:ext cx="3994958" cy="1982498"/>
          </a:xfrm>
          <a:custGeom>
            <a:avLst/>
            <a:gdLst/>
            <a:ahLst/>
            <a:cxnLst/>
            <a:rect l="l" t="t" r="r" b="b"/>
            <a:pathLst>
              <a:path w="3994958" h="1982498">
                <a:moveTo>
                  <a:pt x="0" y="0"/>
                </a:moveTo>
                <a:lnTo>
                  <a:pt x="3994958" y="0"/>
                </a:lnTo>
                <a:lnTo>
                  <a:pt x="3994958" y="1982498"/>
                </a:lnTo>
                <a:lnTo>
                  <a:pt x="0" y="19824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313336" y="7703072"/>
            <a:ext cx="5130457" cy="2487232"/>
          </a:xfrm>
          <a:custGeom>
            <a:avLst/>
            <a:gdLst/>
            <a:ahLst/>
            <a:cxnLst/>
            <a:rect l="l" t="t" r="r" b="b"/>
            <a:pathLst>
              <a:path w="5130457" h="2487232">
                <a:moveTo>
                  <a:pt x="0" y="0"/>
                </a:moveTo>
                <a:lnTo>
                  <a:pt x="5130457" y="0"/>
                </a:lnTo>
                <a:lnTo>
                  <a:pt x="5130457" y="2487232"/>
                </a:lnTo>
                <a:lnTo>
                  <a:pt x="0" y="248723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2202914" y="982765"/>
            <a:ext cx="7426226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2. Project Wireframe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74389" y="3494088"/>
            <a:ext cx="14684911" cy="2676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table below summarizes the performance of the different forecasting models evaluated on the dataset. 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metrics include Mean Absolute Error (MAE), Root Mean Squared Error (RMSE), R² Score, and Mean Absolute Percentage Error (MAPE), which collectively provide insights into prediction accuracy and reliability.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02914" y="2357489"/>
            <a:ext cx="12761268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Model Performance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8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8282583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3. End Users + Features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4389" y="3408363"/>
            <a:ext cx="14684911" cy="214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Business Owners &amp; Managers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Inventory &amp; Supply Chain Teams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Marketing Teams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Data Analysts / Data Science Teams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02914" y="2644826"/>
            <a:ext cx="6274743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End Users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74389" y="6619824"/>
            <a:ext cx="14684911" cy="320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Sales &amp; Demand Forecasting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Interactive Dashboard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Automated Data Pipeline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What-If Scenario Simulation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Alerts &amp; Notifications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Performance Monitoring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202914" y="5856288"/>
            <a:ext cx="8428292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Key Features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9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8282583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3. End Users + Features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02914" y="2644826"/>
            <a:ext cx="11932593" cy="717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How the Features Solve User Problems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74389" y="3495675"/>
            <a:ext cx="14684911" cy="427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AutoNum type="arabicPeriod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Business Owners &amp; Managers: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Forecasts support better decision-making and strategic planning.</a:t>
            </a:r>
          </a:p>
          <a:p>
            <a:pPr marL="647700" lvl="1" indent="-323850" algn="l">
              <a:lnSpc>
                <a:spcPts val="4200"/>
              </a:lnSpc>
              <a:buAutoNum type="arabicPeriod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Inventory &amp; Supply Chain Teams: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Demand predictions reduce overstock and prevent stockouts.</a:t>
            </a:r>
          </a:p>
          <a:p>
            <a:pPr marL="647700" lvl="1" indent="-323850" algn="l">
              <a:lnSpc>
                <a:spcPts val="4200"/>
              </a:lnSpc>
              <a:buAutoNum type="arabicPeriod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Marketing &amp; Strategy Teams: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Scenario analysis helps plan effective marketing actions.</a:t>
            </a:r>
          </a:p>
          <a:p>
            <a:pPr marL="647700" lvl="1" indent="-323850" algn="l">
              <a:lnSpc>
                <a:spcPts val="4200"/>
              </a:lnSpc>
              <a:buAutoNum type="arabicPeriod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Data Analysts &amp; Data Science Teams: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Automation and monitoring simplify model maintenance.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10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15175357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 4. Data Structure (CSV-based)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202914" y="2759126"/>
            <a:ext cx="15056386" cy="3946474"/>
            <a:chOff x="0" y="0"/>
            <a:chExt cx="20075181" cy="5261965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14300"/>
              <a:ext cx="15910123" cy="9186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9" lvl="1" indent="-431800" algn="just">
                <a:lnSpc>
                  <a:spcPts val="5599"/>
                </a:lnSpc>
                <a:buFont typeface="Arial"/>
                <a:buChar char="•"/>
              </a:pPr>
              <a:r>
                <a:rPr lang="en-US" sz="39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Some Features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5300" y="1010640"/>
              <a:ext cx="19579881" cy="4251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Order Date, Ship Date → Track order timing and shipping duration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Product ID, Category, Sub-Category → Track product types and categories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Customer ID, Segment, Region → Analyze customer behavior and segmentation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Total Sales, Quantity → Main target variables for forecasting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202914" y="7124700"/>
            <a:ext cx="15056386" cy="1812874"/>
            <a:chOff x="0" y="0"/>
            <a:chExt cx="20075181" cy="241716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14300"/>
              <a:ext cx="15910123" cy="9186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9" lvl="1" indent="-431800" algn="just">
                <a:lnSpc>
                  <a:spcPts val="5599"/>
                </a:lnSpc>
                <a:buFont typeface="Arial"/>
                <a:buChar char="•"/>
              </a:pPr>
              <a:r>
                <a:rPr lang="en-US" sz="39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Shape of Data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5300" y="1010640"/>
              <a:ext cx="19579881" cy="1406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Rows: 44,119 orders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Columns: 44 features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11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15175357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 4. Data Structure (CSV-based)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202914" y="2759126"/>
            <a:ext cx="15056386" cy="2346274"/>
            <a:chOff x="0" y="0"/>
            <a:chExt cx="20075181" cy="3128365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14300"/>
              <a:ext cx="15910123" cy="9186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9" lvl="1" indent="-431800" algn="just">
                <a:lnSpc>
                  <a:spcPts val="5599"/>
                </a:lnSpc>
                <a:buFont typeface="Arial"/>
                <a:buChar char="•"/>
              </a:pPr>
              <a:r>
                <a:rPr lang="en-US" sz="39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 Balance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5300" y="1010640"/>
              <a:ext cx="19579881" cy="2117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Distribution of sales and demand is imbalanced across products and regions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Some products or regions appear more frequently than others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202914" y="5524500"/>
            <a:ext cx="15056386" cy="3413074"/>
            <a:chOff x="0" y="0"/>
            <a:chExt cx="20075181" cy="455076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14300"/>
              <a:ext cx="15910123" cy="9186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9" lvl="1" indent="-431800" algn="just">
                <a:lnSpc>
                  <a:spcPts val="5599"/>
                </a:lnSpc>
                <a:buFont typeface="Arial"/>
                <a:buChar char="•"/>
              </a:pPr>
              <a:r>
                <a:rPr lang="en-US" sz="39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Techniques Used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5300" y="1010640"/>
              <a:ext cx="19579881" cy="3540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Handling missing values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Encoding categorical variables into numerical form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Feature engineering: lag features, rolling averages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Scaling of numerical features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Splitting data into training and testing sets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12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2" y="1357415"/>
            <a:ext cx="15786977" cy="938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 dirty="0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5. Programming Languages + Frameworks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202914" y="2759126"/>
            <a:ext cx="14399161" cy="1562049"/>
            <a:chOff x="0" y="0"/>
            <a:chExt cx="19198881" cy="2082732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04775"/>
              <a:ext cx="15215632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51" lvl="1" indent="-377825" algn="just">
                <a:lnSpc>
                  <a:spcPts val="4900"/>
                </a:lnSpc>
                <a:buFont typeface="Arial"/>
                <a:buChar char="•"/>
              </a:pPr>
              <a:r>
                <a:rPr lang="en-US" sz="3500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Programming Languages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3680" y="932323"/>
              <a:ext cx="18725201" cy="1150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Python → Main language for data analysis, preprocessing, and machine learning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JavaScript / HTML / CSS → For dashboard interactivity 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202914" y="4740275"/>
            <a:ext cx="14713486" cy="2438349"/>
            <a:chOff x="0" y="0"/>
            <a:chExt cx="19617981" cy="3251132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04775"/>
              <a:ext cx="15547780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51" lvl="1" indent="-377825" algn="just">
                <a:lnSpc>
                  <a:spcPts val="4900"/>
                </a:lnSpc>
                <a:buFont typeface="Arial"/>
                <a:buChar char="•"/>
              </a:pPr>
              <a:r>
                <a:rPr lang="en-US" sz="3500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Frameworks / Tools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4020" y="932323"/>
              <a:ext cx="19133961" cy="2318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Pandas &amp; NumPy → Data manipulation and numerical operations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Scikit-learn / XGBoost → Machine learning models for sales and demand prediction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Matplotlib &amp; Seaborn / Plotly → Data visualization and charts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Streamlit → Building interactive dashboards 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2202914" y="7597724"/>
            <a:ext cx="14399161" cy="2438349"/>
            <a:chOff x="0" y="0"/>
            <a:chExt cx="19198881" cy="3251132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04775"/>
              <a:ext cx="15215632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51" lvl="1" indent="-377825" algn="just">
                <a:lnSpc>
                  <a:spcPts val="4900"/>
                </a:lnSpc>
                <a:buFont typeface="Arial"/>
                <a:buChar char="•"/>
              </a:pPr>
              <a:r>
                <a:rPr lang="en-US" sz="3500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Supporting Technologies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3680" y="932323"/>
              <a:ext cx="18725201" cy="2318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APIs → For fetching external data.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CSV / Excel Files → Data input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Cloud Platforms (e.g.,  Google Colab) →Used for running Python code, data preprocessing, and training machine learning models in the cloud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8343" y="-989670"/>
            <a:ext cx="1080715" cy="2956684"/>
            <a:chOff x="0" y="0"/>
            <a:chExt cx="284633" cy="7787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4633" cy="778715"/>
            </a:xfrm>
            <a:custGeom>
              <a:avLst/>
              <a:gdLst/>
              <a:ahLst/>
              <a:cxnLst/>
              <a:rect l="l" t="t" r="r" b="b"/>
              <a:pathLst>
                <a:path w="284633" h="778715">
                  <a:moveTo>
                    <a:pt x="142316" y="0"/>
                  </a:moveTo>
                  <a:lnTo>
                    <a:pt x="142316" y="0"/>
                  </a:lnTo>
                  <a:cubicBezTo>
                    <a:pt x="220916" y="0"/>
                    <a:pt x="284633" y="63717"/>
                    <a:pt x="284633" y="142316"/>
                  </a:cubicBezTo>
                  <a:lnTo>
                    <a:pt x="284633" y="636399"/>
                  </a:lnTo>
                  <a:cubicBezTo>
                    <a:pt x="284633" y="714998"/>
                    <a:pt x="220916" y="778715"/>
                    <a:pt x="142316" y="778715"/>
                  </a:cubicBezTo>
                  <a:lnTo>
                    <a:pt x="142316" y="778715"/>
                  </a:lnTo>
                  <a:cubicBezTo>
                    <a:pt x="63717" y="778715"/>
                    <a:pt x="0" y="714998"/>
                    <a:pt x="0" y="636399"/>
                  </a:cubicBezTo>
                  <a:lnTo>
                    <a:pt x="0" y="142316"/>
                  </a:lnTo>
                  <a:cubicBezTo>
                    <a:pt x="0" y="63717"/>
                    <a:pt x="63717" y="0"/>
                    <a:pt x="142316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4633" cy="81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13</a:t>
              </a:r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7259300" y="6160283"/>
            <a:ext cx="4518707" cy="3939865"/>
          </a:xfrm>
          <a:custGeom>
            <a:avLst/>
            <a:gdLst/>
            <a:ahLst/>
            <a:cxnLst/>
            <a:rect l="l" t="t" r="r" b="b"/>
            <a:pathLst>
              <a:path w="4518707" h="3939865">
                <a:moveTo>
                  <a:pt x="4518707" y="0"/>
                </a:moveTo>
                <a:lnTo>
                  <a:pt x="0" y="0"/>
                </a:lnTo>
                <a:lnTo>
                  <a:pt x="0" y="3939865"/>
                </a:lnTo>
                <a:lnTo>
                  <a:pt x="4518707" y="3939865"/>
                </a:lnTo>
                <a:lnTo>
                  <a:pt x="45187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7523980" y="6587165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48623" y="1357415"/>
            <a:ext cx="7252577" cy="938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7699"/>
              </a:lnSpc>
            </a:pPr>
            <a:r>
              <a:rPr lang="en-US" sz="5499" b="1" dirty="0">
                <a:solidFill>
                  <a:srgbClr val="2F3B69"/>
                </a:solidFill>
                <a:latin typeface="Poppins Bold"/>
                <a:ea typeface="Poppins Bold"/>
                <a:cs typeface="Poppins Bold"/>
                <a:sym typeface="Poppins Bold"/>
              </a:rPr>
              <a:t>6. Deliverables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202914" y="2768651"/>
            <a:ext cx="14399161" cy="2000199"/>
            <a:chOff x="0" y="0"/>
            <a:chExt cx="19198881" cy="2666932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04775"/>
              <a:ext cx="15215632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51" lvl="1" indent="-377825" algn="just">
                <a:lnSpc>
                  <a:spcPts val="4900"/>
                </a:lnSpc>
                <a:buFont typeface="Arial"/>
                <a:buChar char="•"/>
              </a:pPr>
              <a:r>
                <a:rPr lang="en-US" sz="3500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Reports &amp; Documentation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3680" y="932323"/>
              <a:ext cx="18725201" cy="17346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Milestone Reports: 4 milestone reports covering each development phase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Monitoring Documentation: Reports on model performance and updates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Final Project Report: Comprehensive summary of methodology, results, and insights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202914" y="5143500"/>
            <a:ext cx="14713486" cy="2438349"/>
            <a:chOff x="0" y="0"/>
            <a:chExt cx="19617981" cy="3251132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04775"/>
              <a:ext cx="15547780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51" lvl="1" indent="-377825" algn="just">
                <a:lnSpc>
                  <a:spcPts val="4900"/>
                </a:lnSpc>
                <a:buFont typeface="Arial"/>
                <a:buChar char="•"/>
              </a:pPr>
              <a:r>
                <a:rPr lang="en-US" sz="3500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Source Code&amp; Data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4020" y="932323"/>
              <a:ext cx="19133961" cy="2318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Milestone Codes: Python scripts for all 4 milestones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Data Files: Original CSV data + all modifications and preprocessing steps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Fully documented and ready for review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GitHub Repository: Link to full project, code, and data ( </a:t>
              </a:r>
              <a:r>
                <a:rPr lang="en-US" sz="2499" u="sng">
                  <a:solidFill>
                    <a:srgbClr val="3E77B1"/>
                  </a:solidFill>
                  <a:latin typeface="Poppins"/>
                  <a:ea typeface="Poppins"/>
                  <a:cs typeface="Poppins"/>
                  <a:sym typeface="Poppins"/>
                  <a:hlinkClick r:id="rId4" tooltip="https://github.com/Mohamed-Kadry-Hussien/Sales_Forecasting_and_Demand_Prediction/"/>
                </a:rPr>
                <a:t>GITHUB LINK</a:t>
              </a: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)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2202914" y="7953324"/>
            <a:ext cx="14399161" cy="1562049"/>
            <a:chOff x="0" y="0"/>
            <a:chExt cx="19198881" cy="2082732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04775"/>
              <a:ext cx="15215632" cy="8117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51" lvl="1" indent="-377825" algn="just">
                <a:lnSpc>
                  <a:spcPts val="4900"/>
                </a:lnSpc>
                <a:buFont typeface="Arial"/>
                <a:buChar char="•"/>
              </a:pPr>
              <a:r>
                <a:rPr lang="en-US" sz="3500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Other Final Products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3680" y="932323"/>
              <a:ext cx="18725201" cy="1150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Working Application: Functional sales forecasting and demand prediction system</a:t>
              </a:r>
            </a:p>
            <a:p>
              <a:pPr marL="539749" lvl="1" indent="-269875" algn="l">
                <a:lnSpc>
                  <a:spcPts val="3499"/>
                </a:lnSpc>
                <a:buFont typeface="Arial"/>
                <a:buChar char="•"/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Presentation Slides: Final slides summarizing project and results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88285" y="3263640"/>
            <a:ext cx="8819592" cy="187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510"/>
              </a:lnSpc>
              <a:spcBef>
                <a:spcPct val="0"/>
              </a:spcBef>
            </a:pPr>
            <a:r>
              <a:rPr lang="en-US" sz="10364" b="1">
                <a:solidFill>
                  <a:srgbClr val="051D40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 !</a:t>
            </a:r>
          </a:p>
        </p:txBody>
      </p:sp>
      <p:sp>
        <p:nvSpPr>
          <p:cNvPr id="3" name="Freeform 3"/>
          <p:cNvSpPr/>
          <p:nvPr/>
        </p:nvSpPr>
        <p:spPr>
          <a:xfrm rot="-10800000">
            <a:off x="13591678" y="-3198527"/>
            <a:ext cx="9392643" cy="9529477"/>
          </a:xfrm>
          <a:custGeom>
            <a:avLst/>
            <a:gdLst/>
            <a:ahLst/>
            <a:cxnLst/>
            <a:rect l="l" t="t" r="r" b="b"/>
            <a:pathLst>
              <a:path w="9392643" h="9529477">
                <a:moveTo>
                  <a:pt x="0" y="0"/>
                </a:moveTo>
                <a:lnTo>
                  <a:pt x="9392644" y="0"/>
                </a:lnTo>
                <a:lnTo>
                  <a:pt x="9392644" y="9529477"/>
                </a:lnTo>
                <a:lnTo>
                  <a:pt x="0" y="95294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3800475" cy="10287000"/>
            <a:chOff x="0" y="0"/>
            <a:chExt cx="5067300" cy="13716000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694446" cy="13716000"/>
              <a:chOff x="0" y="0"/>
              <a:chExt cx="334705" cy="2709333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34705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334705" h="2709333">
                    <a:moveTo>
                      <a:pt x="0" y="0"/>
                    </a:moveTo>
                    <a:lnTo>
                      <a:pt x="334705" y="0"/>
                    </a:lnTo>
                    <a:lnTo>
                      <a:pt x="334705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145DA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57150"/>
                <a:ext cx="334705" cy="27664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746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1689100" y="0"/>
              <a:ext cx="1689100" cy="13716000"/>
              <a:chOff x="0" y="0"/>
              <a:chExt cx="333649" cy="2709333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333649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333649" h="2709333">
                    <a:moveTo>
                      <a:pt x="0" y="0"/>
                    </a:moveTo>
                    <a:lnTo>
                      <a:pt x="333649" y="0"/>
                    </a:lnTo>
                    <a:lnTo>
                      <a:pt x="333649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509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57150"/>
                <a:ext cx="333649" cy="27664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746"/>
                  </a:lnSpc>
                </a:pPr>
                <a:endParaRPr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3378200" y="0"/>
              <a:ext cx="1689100" cy="13716000"/>
              <a:chOff x="0" y="0"/>
              <a:chExt cx="333649" cy="270933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333649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333649" h="2709333">
                    <a:moveTo>
                      <a:pt x="0" y="0"/>
                    </a:moveTo>
                    <a:lnTo>
                      <a:pt x="333649" y="0"/>
                    </a:lnTo>
                    <a:lnTo>
                      <a:pt x="333649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90BFD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57150"/>
                <a:ext cx="333649" cy="27664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746"/>
                  </a:lnSpc>
                </a:pPr>
                <a:endParaRPr/>
              </a:p>
            </p:txBody>
          </p:sp>
        </p:grpSp>
      </p:grpSp>
      <p:sp>
        <p:nvSpPr>
          <p:cNvPr id="14" name="Freeform 14"/>
          <p:cNvSpPr/>
          <p:nvPr/>
        </p:nvSpPr>
        <p:spPr>
          <a:xfrm>
            <a:off x="4355046" y="7016750"/>
            <a:ext cx="439326" cy="602567"/>
          </a:xfrm>
          <a:custGeom>
            <a:avLst/>
            <a:gdLst/>
            <a:ahLst/>
            <a:cxnLst/>
            <a:rect l="l" t="t" r="r" b="b"/>
            <a:pathLst>
              <a:path w="439326" h="602567">
                <a:moveTo>
                  <a:pt x="0" y="0"/>
                </a:moveTo>
                <a:lnTo>
                  <a:pt x="439326" y="0"/>
                </a:lnTo>
                <a:lnTo>
                  <a:pt x="439326" y="602567"/>
                </a:lnTo>
                <a:lnTo>
                  <a:pt x="0" y="6025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4288285" y="8136995"/>
            <a:ext cx="661687" cy="508898"/>
          </a:xfrm>
          <a:custGeom>
            <a:avLst/>
            <a:gdLst/>
            <a:ahLst/>
            <a:cxnLst/>
            <a:rect l="l" t="t" r="r" b="b"/>
            <a:pathLst>
              <a:path w="661687" h="508898">
                <a:moveTo>
                  <a:pt x="0" y="0"/>
                </a:moveTo>
                <a:lnTo>
                  <a:pt x="661688" y="0"/>
                </a:lnTo>
                <a:lnTo>
                  <a:pt x="661688" y="508898"/>
                </a:lnTo>
                <a:lnTo>
                  <a:pt x="0" y="5088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4288285" y="9168113"/>
            <a:ext cx="661687" cy="661687"/>
          </a:xfrm>
          <a:custGeom>
            <a:avLst/>
            <a:gdLst/>
            <a:ahLst/>
            <a:cxnLst/>
            <a:rect l="l" t="t" r="r" b="b"/>
            <a:pathLst>
              <a:path w="661687" h="661687">
                <a:moveTo>
                  <a:pt x="0" y="0"/>
                </a:moveTo>
                <a:lnTo>
                  <a:pt x="661688" y="0"/>
                </a:lnTo>
                <a:lnTo>
                  <a:pt x="661688" y="661687"/>
                </a:lnTo>
                <a:lnTo>
                  <a:pt x="0" y="66168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5279853" y="6992856"/>
            <a:ext cx="11979447" cy="2850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0"/>
              </a:lnSpc>
            </a:pPr>
            <a:r>
              <a:rPr lang="en-US" sz="3500" u="sng" dirty="0">
                <a:latin typeface="Garet"/>
                <a:ea typeface="Garet"/>
                <a:cs typeface="Garet"/>
                <a:sym typeface="Garet"/>
                <a:hlinkClick r:id="rId10" tooltip="https://www.linkedin.com/in/mohamed-kadry-bba826254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+20 12 00362964</a:t>
            </a:r>
          </a:p>
          <a:p>
            <a:pPr algn="l">
              <a:lnSpc>
                <a:spcPts val="4550"/>
              </a:lnSpc>
            </a:pPr>
            <a:endParaRPr lang="en-US" sz="3500" u="sng" dirty="0">
              <a:latin typeface="Garet"/>
              <a:ea typeface="Garet"/>
              <a:cs typeface="Garet"/>
              <a:sym typeface="Garet"/>
              <a:hlinkClick r:id="rId10" tooltip="https://www.linkedin.com/in/mohamed-kadry-bba826254/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l">
              <a:lnSpc>
                <a:spcPts val="4550"/>
              </a:lnSpc>
            </a:pPr>
            <a:r>
              <a:rPr lang="en-US" sz="3500" u="sng" dirty="0">
                <a:latin typeface="Garet"/>
                <a:ea typeface="Garet"/>
                <a:cs typeface="Garet"/>
                <a:sym typeface="Garet"/>
                <a:hlinkClick r:id="rId10" tooltip="https://www.linkedin.com/in/mohamed-kadry-bba826254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mokadry2004@gmail.com</a:t>
            </a:r>
          </a:p>
          <a:p>
            <a:pPr algn="l">
              <a:lnSpc>
                <a:spcPts val="4550"/>
              </a:lnSpc>
            </a:pPr>
            <a:endParaRPr lang="en-US" sz="3500" u="sng" dirty="0">
              <a:latin typeface="Garet"/>
              <a:ea typeface="Garet"/>
              <a:cs typeface="Garet"/>
              <a:sym typeface="Garet"/>
              <a:hlinkClick r:id="rId10" tooltip="https://www.linkedin.com/in/mohamed-kadry-bba826254/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l">
              <a:lnSpc>
                <a:spcPts val="3900"/>
              </a:lnSpc>
            </a:pPr>
            <a:r>
              <a:rPr lang="en-US" sz="3000" u="sng" dirty="0">
                <a:latin typeface="Garet"/>
                <a:ea typeface="Garet"/>
                <a:cs typeface="Garet"/>
                <a:sym typeface="Garet"/>
                <a:hlinkClick r:id="rId10" tooltip="https://www.linkedin.com/in/mohamed-kadry-bba826254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https://www.linkedin.com/in/mohamed-kadry-bba826254/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887</Words>
  <Application>Microsoft Office PowerPoint</Application>
  <PresentationFormat>Custom</PresentationFormat>
  <Paragraphs>199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Poppins Bold</vt:lpstr>
      <vt:lpstr>Garet</vt:lpstr>
      <vt:lpstr>Calibri</vt:lpstr>
      <vt:lpstr>Poppins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Forecasting &amp;Demand Prediction</dc:title>
  <dc:creator>Fatma Elbaily</dc:creator>
  <cp:lastModifiedBy>Fatma Elbialy</cp:lastModifiedBy>
  <cp:revision>4</cp:revision>
  <dcterms:created xsi:type="dcterms:W3CDTF">2006-08-16T00:00:00Z</dcterms:created>
  <dcterms:modified xsi:type="dcterms:W3CDTF">2025-11-30T22:45:24Z</dcterms:modified>
  <dc:identifier>DAG6LTp02J0</dc:identifier>
</cp:coreProperties>
</file>